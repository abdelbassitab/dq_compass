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 Compass, Groupe 1. En 5 minutes : qui on est et comment on a travaille, le contexte, la solution en 4 briques - Catalogue, Moteur, Reporting, Audit - et les perspectives. Puis 5 minutes de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s'est reparti en quatre poles : regles, moteur, interface, gouvernance. Notre demarche : d'abord comprendre le brief et le prototype, puis fixer l'architecture - regles = donnees, moteur generique - puis construire brique par brique en testant a chaque etape, et enfin durcir avec 42 tests et documenter la conformite.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probleme est de gouvernance : les EUC portent des process sensibles mais echappent aux controles, chaque equipe bricole ses verifications, et BCBS 239 exige des preuves. Le brief demande un cycle Definir-Executer-Restituer-Prouver, 6 dimensions, frugal et deterministe.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L'idee centrale : une regle est une ligne de fichier, le moteur est generique. Quatre briques : le Catalogue definit, le Moteur execute, le Reporting restitue, l'Audit prouve. Ajouter un EUC, c'est deux fichiers de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Catalogue : une regle est une ligne de fichier, et l'appli web permet un CRUD complet dessus - creer, consulter, modifier, activer ou desactiver, supprimer. Avant chaque enregistrement, un meta-catalogue de ~30 verifications refuse une regle invalide. Et tout est journalise dans un log chaine par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Moteur : une seule fonction generique par dimension, qui ne recoit que des noms de colonnes, donc elle marche sur n'importe quel dataset. Deterministe et reproductible. Et resilient : si une source manque, la regle passe en ERROR et l'execution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Reporting : un tableau de bord pour deux publics - le metier et le data engineer - avec un score DQ composite pondere par severite, la tendance, les incidents ouverts avec leur action corrective, et les exceptions par proprietaire. Un selecteur permet de rejouer le tableau sur n'importe quel run passe. Et 7 exports prets pour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L'Audit, c'est notre point fort. Chaque execution produit un Evidence Pack complet : les 10 composants de l'annexe B.2. Le registre des runs est chaine par hash - toute alteration devient visible. La commande Verify rejoue la config figee sur les donnees figees et retrouve le meme resultat. Plus le sign-off humain et les journaux de changements. On ne fait pas que detecter, on prouve.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Perspectives. A l'horizontale c'est deja de la config : un EUC de plus, deux fichiers. A la verticale, le contrat de fonction fixe permet de passer a DuckDB ou Spark sans toucher au reste. C'est un MVP - trois connecteurs a finir, execution en memoire - mais le cycle de gouvernance est complet et prouve.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 la demo, en cinq etapes : creer une regle dans le catalogue, lancer un run, ouvrir un incident dans le reporting avec les lignes fautives, ouvrir un Evidence Pack et cliquer Verify, et enfin le mapping superviseur.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E"/>
        </a:solidFill>
      </p:bgPr>
    </p:bg>
    <p:spTree>
      <p:nvGrpSpPr>
        <p:cNvPr id="1" name=""/>
        <p:cNvGrpSpPr/>
        <p:nvPr/>
      </p:nvGrpSpPr>
      <p:grpSpPr>
        <a:xfrm>
          <a:off x="0" y="0"/>
          <a:ext cx="0" cy="0"/>
          <a:chOff x="0" y="0"/>
          <a:chExt cx="0" cy="0"/>
        </a:xfrm>
      </p:grpSpPr>
      <p:sp>
        <p:nvSpPr>
          <p:cNvPr id="2" name="Text 0"/>
          <p:cNvSpPr txBox="1"/>
          <p:nvPr/>
        </p:nvSpPr>
        <p:spPr>
          <a:xfrm>
            <a:off x="566928" y="2194560"/>
            <a:ext cx="11057839"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DQ Compass</a:t>
            </a:r>
            <a:endParaRPr lang="en-US" sz="5600" dirty="0"/>
          </a:p>
        </p:txBody>
      </p:sp>
      <p:sp>
        <p:nvSpPr>
          <p:cNvPr id="3" name="Text 1"/>
          <p:cNvSpPr txBox="1"/>
          <p:nvPr/>
        </p:nvSpPr>
        <p:spPr>
          <a:xfrm>
            <a:off x="566928" y="3310128"/>
            <a:ext cx="10058400" cy="548640"/>
          </a:xfrm>
          <a:prstGeom prst="rect">
            <a:avLst/>
          </a:prstGeom>
          <a:noFill/>
          <a:ln/>
        </p:spPr>
        <p:txBody>
          <a:bodyPr wrap="square" lIns="0" tIns="0" rIns="0" bIns="0" rtlCol="0" anchor="ctr"/>
          <a:lstStyle/>
          <a:p>
            <a:pPr indent="0" marL="0">
              <a:buNone/>
            </a:pPr>
            <a:r>
              <a:rPr lang="en-US" sz="1900" dirty="0">
                <a:solidFill>
                  <a:srgbClr val="D8D4D0"/>
                </a:solidFill>
                <a:latin typeface="Calibri" pitchFamily="34" charset="0"/>
                <a:ea typeface="Calibri" pitchFamily="34" charset="-122"/>
                <a:cs typeface="Calibri" pitchFamily="34" charset="-120"/>
              </a:rPr>
              <a:t>Une couche de controle Data Quality plug-and-play pour les EUC</a:t>
            </a:r>
            <a:endParaRPr lang="en-US" sz="1900" dirty="0"/>
          </a:p>
        </p:txBody>
      </p:sp>
      <p:sp>
        <p:nvSpPr>
          <p:cNvPr id="4" name="Text 2"/>
          <p:cNvSpPr txBox="1"/>
          <p:nvPr/>
        </p:nvSpPr>
        <p:spPr>
          <a:xfrm>
            <a:off x="566928" y="4114800"/>
            <a:ext cx="10058400" cy="365760"/>
          </a:xfrm>
          <a:prstGeom prst="rect">
            <a:avLst/>
          </a:prstGeom>
          <a:noFill/>
          <a:ln/>
        </p:spPr>
        <p:txBody>
          <a:bodyPr wrap="square" lIns="0" tIns="0" rIns="0" bIns="0" rtlCol="0" anchor="ctr"/>
          <a:lstStyle/>
          <a:p>
            <a:pPr indent="0" marL="0">
              <a:buNone/>
            </a:pPr>
            <a:r>
              <a:rPr lang="en-US" sz="1200" dirty="0">
                <a:solidFill>
                  <a:srgbClr val="8A8A93"/>
                </a:solidFill>
                <a:latin typeface="Calibri" pitchFamily="34" charset="0"/>
                <a:ea typeface="Calibri" pitchFamily="34" charset="-122"/>
                <a:cs typeface="Calibri" pitchFamily="34" charset="-120"/>
              </a:rPr>
              <a:t>Groupe 1   -   Datathon MBA-ESG x SG GSC 2026   -   5 min + demo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9E1B32"/>
                </a:solidFill>
                <a:latin typeface="Calibri" pitchFamily="34" charset="0"/>
                <a:ea typeface="Calibri" pitchFamily="34" charset="-122"/>
                <a:cs typeface="Calibri" pitchFamily="34" charset="-120"/>
              </a:rPr>
              <a:t>1 - L'EQUIPE &amp; NOTRE DEMARCHE</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ctr"/>
          <a:lstStyle/>
          <a:p>
            <a:pPr indent="0" marL="0">
              <a:buNone/>
            </a:pPr>
            <a:r>
              <a:rPr lang="en-US" sz="2900" b="1" dirty="0">
                <a:solidFill>
                  <a:srgbClr val="1A1A1E"/>
                </a:solidFill>
                <a:latin typeface="Cambria" pitchFamily="34" charset="0"/>
                <a:ea typeface="Cambria" pitchFamily="34" charset="-122"/>
                <a:cs typeface="Cambria" pitchFamily="34" charset="-120"/>
              </a:rPr>
              <a:t>Groupe 1 - quatre poles, une methode</a:t>
            </a:r>
            <a:endParaRPr lang="en-US" sz="2900" dirty="0"/>
          </a:p>
        </p:txBody>
      </p:sp>
      <p:sp>
        <p:nvSpPr>
          <p:cNvPr id="4" name="Text 2"/>
          <p:cNvSpPr txBox="1"/>
          <p:nvPr/>
        </p:nvSpPr>
        <p:spPr>
          <a:xfrm>
            <a:off x="566928" y="1600200"/>
            <a:ext cx="5486400" cy="329184"/>
          </a:xfrm>
          <a:prstGeom prst="rect">
            <a:avLst/>
          </a:prstGeom>
          <a:noFill/>
          <a:ln/>
        </p:spPr>
        <p:txBody>
          <a:bodyPr wrap="square" lIns="0" tIns="0" rIns="0" bIns="0" rtlCol="0" anchor="ctr"/>
          <a:lstStyle/>
          <a:p>
            <a:pPr indent="0" marL="0">
              <a:buNone/>
            </a:pPr>
            <a:r>
              <a:rPr lang="en-US" sz="1350" b="1" dirty="0">
                <a:solidFill>
                  <a:srgbClr val="9E1B32"/>
                </a:solidFill>
                <a:latin typeface="Cambria" pitchFamily="34" charset="0"/>
                <a:ea typeface="Cambria" pitchFamily="34" charset="-122"/>
                <a:cs typeface="Cambria" pitchFamily="34" charset="-120"/>
              </a:rPr>
              <a:t>Repartition du travail</a:t>
            </a:r>
            <a:endParaRPr lang="en-US" sz="1350" dirty="0"/>
          </a:p>
        </p:txBody>
      </p:sp>
      <p:sp>
        <p:nvSpPr>
          <p:cNvPr id="5" name="Shape 3"/>
          <p:cNvSpPr/>
          <p:nvPr/>
        </p:nvSpPr>
        <p:spPr>
          <a:xfrm>
            <a:off x="566928" y="2011680"/>
            <a:ext cx="5394960" cy="566928"/>
          </a:xfrm>
          <a:prstGeom prst="roundRect">
            <a:avLst>
              <a:gd name="adj" fmla="val 8065"/>
            </a:avLst>
          </a:prstGeom>
          <a:solidFill>
            <a:srgbClr val="F4F5F7"/>
          </a:solidFill>
          <a:ln w="6350">
            <a:solidFill>
              <a:srgbClr val="D8DAE0"/>
            </a:solidFill>
            <a:prstDash val="solid"/>
          </a:ln>
        </p:spPr>
      </p:sp>
      <p:sp>
        <p:nvSpPr>
          <p:cNvPr id="6" name="Text 4"/>
          <p:cNvSpPr txBox="1"/>
          <p:nvPr/>
        </p:nvSpPr>
        <p:spPr>
          <a:xfrm>
            <a:off x="676656" y="2011680"/>
            <a:ext cx="5175504" cy="566928"/>
          </a:xfrm>
          <a:prstGeom prst="rect">
            <a:avLst/>
          </a:prstGeom>
          <a:noFill/>
          <a:ln/>
        </p:spPr>
        <p:txBody>
          <a:bodyPr wrap="square" lIns="0" tIns="0" rIns="0" bIns="0" rtlCol="0" anchor="ctr"/>
          <a:lstStyle/>
          <a:p>
            <a:pPr indent="0" marL="0">
              <a:buNone/>
            </a:pPr>
            <a:r>
              <a:rPr lang="en-US" sz="1150" dirty="0">
                <a:solidFill>
                  <a:srgbClr val="1A1A1E"/>
                </a:solidFill>
                <a:latin typeface="Calibri" pitchFamily="34" charset="0"/>
                <a:ea typeface="Calibri" pitchFamily="34" charset="-122"/>
                <a:cs typeface="Calibri" pitchFamily="34" charset="-120"/>
              </a:rPr>
              <a:t>  Regles &amp; meta-catalogue</a:t>
            </a:r>
            <a:endParaRPr lang="en-US" sz="1150" dirty="0"/>
          </a:p>
        </p:txBody>
      </p:sp>
      <p:sp>
        <p:nvSpPr>
          <p:cNvPr id="7" name="Shape 5"/>
          <p:cNvSpPr/>
          <p:nvPr/>
        </p:nvSpPr>
        <p:spPr>
          <a:xfrm>
            <a:off x="566928" y="2761488"/>
            <a:ext cx="5394960" cy="566928"/>
          </a:xfrm>
          <a:prstGeom prst="roundRect">
            <a:avLst>
              <a:gd name="adj" fmla="val 8065"/>
            </a:avLst>
          </a:prstGeom>
          <a:solidFill>
            <a:srgbClr val="F4F5F7"/>
          </a:solidFill>
          <a:ln w="6350">
            <a:solidFill>
              <a:srgbClr val="D8DAE0"/>
            </a:solidFill>
            <a:prstDash val="solid"/>
          </a:ln>
        </p:spPr>
      </p:sp>
      <p:sp>
        <p:nvSpPr>
          <p:cNvPr id="8" name="Text 6"/>
          <p:cNvSpPr txBox="1"/>
          <p:nvPr/>
        </p:nvSpPr>
        <p:spPr>
          <a:xfrm>
            <a:off x="676656" y="2761488"/>
            <a:ext cx="5175504" cy="566928"/>
          </a:xfrm>
          <a:prstGeom prst="rect">
            <a:avLst/>
          </a:prstGeom>
          <a:noFill/>
          <a:ln/>
        </p:spPr>
        <p:txBody>
          <a:bodyPr wrap="square" lIns="0" tIns="0" rIns="0" bIns="0" rtlCol="0" anchor="ctr"/>
          <a:lstStyle/>
          <a:p>
            <a:pPr indent="0" marL="0">
              <a:buNone/>
            </a:pPr>
            <a:r>
              <a:rPr lang="en-US" sz="1150" dirty="0">
                <a:solidFill>
                  <a:srgbClr val="1A1A1E"/>
                </a:solidFill>
                <a:latin typeface="Calibri" pitchFamily="34" charset="0"/>
                <a:ea typeface="Calibri" pitchFamily="34" charset="-122"/>
                <a:cs typeface="Calibri" pitchFamily="34" charset="-120"/>
              </a:rPr>
              <a:t>  Moteur d'execution &amp; tests</a:t>
            </a:r>
            <a:endParaRPr lang="en-US" sz="1150" dirty="0"/>
          </a:p>
        </p:txBody>
      </p:sp>
      <p:sp>
        <p:nvSpPr>
          <p:cNvPr id="9" name="Shape 7"/>
          <p:cNvSpPr/>
          <p:nvPr/>
        </p:nvSpPr>
        <p:spPr>
          <a:xfrm>
            <a:off x="566928" y="3511296"/>
            <a:ext cx="5394960" cy="566928"/>
          </a:xfrm>
          <a:prstGeom prst="roundRect">
            <a:avLst>
              <a:gd name="adj" fmla="val 8065"/>
            </a:avLst>
          </a:prstGeom>
          <a:solidFill>
            <a:srgbClr val="F4F5F7"/>
          </a:solidFill>
          <a:ln w="6350">
            <a:solidFill>
              <a:srgbClr val="D8DAE0"/>
            </a:solidFill>
            <a:prstDash val="solid"/>
          </a:ln>
        </p:spPr>
      </p:sp>
      <p:sp>
        <p:nvSpPr>
          <p:cNvPr id="10" name="Text 8"/>
          <p:cNvSpPr txBox="1"/>
          <p:nvPr/>
        </p:nvSpPr>
        <p:spPr>
          <a:xfrm>
            <a:off x="676656" y="3511296"/>
            <a:ext cx="5175504" cy="566928"/>
          </a:xfrm>
          <a:prstGeom prst="rect">
            <a:avLst/>
          </a:prstGeom>
          <a:noFill/>
          <a:ln/>
        </p:spPr>
        <p:txBody>
          <a:bodyPr wrap="square" lIns="0" tIns="0" rIns="0" bIns="0" rtlCol="0" anchor="ctr"/>
          <a:lstStyle/>
          <a:p>
            <a:pPr indent="0" marL="0">
              <a:buNone/>
            </a:pPr>
            <a:r>
              <a:rPr lang="en-US" sz="1150" dirty="0">
                <a:solidFill>
                  <a:srgbClr val="1A1A1E"/>
                </a:solidFill>
                <a:latin typeface="Calibri" pitchFamily="34" charset="0"/>
                <a:ea typeface="Calibri" pitchFamily="34" charset="-122"/>
                <a:cs typeface="Calibri" pitchFamily="34" charset="-120"/>
              </a:rPr>
              <a:t>  Interface web &amp; reporting</a:t>
            </a:r>
            <a:endParaRPr lang="en-US" sz="1150" dirty="0"/>
          </a:p>
        </p:txBody>
      </p:sp>
      <p:sp>
        <p:nvSpPr>
          <p:cNvPr id="11" name="Shape 9"/>
          <p:cNvSpPr/>
          <p:nvPr/>
        </p:nvSpPr>
        <p:spPr>
          <a:xfrm>
            <a:off x="566928" y="4261104"/>
            <a:ext cx="5394960" cy="566928"/>
          </a:xfrm>
          <a:prstGeom prst="roundRect">
            <a:avLst>
              <a:gd name="adj" fmla="val 8065"/>
            </a:avLst>
          </a:prstGeom>
          <a:solidFill>
            <a:srgbClr val="F4F5F7"/>
          </a:solidFill>
          <a:ln w="6350">
            <a:solidFill>
              <a:srgbClr val="D8DAE0"/>
            </a:solidFill>
            <a:prstDash val="solid"/>
          </a:ln>
        </p:spPr>
      </p:sp>
      <p:sp>
        <p:nvSpPr>
          <p:cNvPr id="12" name="Text 10"/>
          <p:cNvSpPr txBox="1"/>
          <p:nvPr/>
        </p:nvSpPr>
        <p:spPr>
          <a:xfrm>
            <a:off x="676656" y="4261104"/>
            <a:ext cx="5175504" cy="566928"/>
          </a:xfrm>
          <a:prstGeom prst="rect">
            <a:avLst/>
          </a:prstGeom>
          <a:noFill/>
          <a:ln/>
        </p:spPr>
        <p:txBody>
          <a:bodyPr wrap="square" lIns="0" tIns="0" rIns="0" bIns="0" rtlCol="0" anchor="ctr"/>
          <a:lstStyle/>
          <a:p>
            <a:pPr indent="0" marL="0">
              <a:buNone/>
            </a:pPr>
            <a:r>
              <a:rPr lang="en-US" sz="1150" dirty="0">
                <a:solidFill>
                  <a:srgbClr val="1A1A1E"/>
                </a:solidFill>
                <a:latin typeface="Calibri" pitchFamily="34" charset="0"/>
                <a:ea typeface="Calibri" pitchFamily="34" charset="-122"/>
                <a:cs typeface="Calibri" pitchFamily="34" charset="-120"/>
              </a:rPr>
              <a:t>  Gouvernance &amp; audit</a:t>
            </a:r>
            <a:endParaRPr lang="en-US" sz="1150" dirty="0"/>
          </a:p>
        </p:txBody>
      </p:sp>
      <p:sp>
        <p:nvSpPr>
          <p:cNvPr id="13" name="Shape 11"/>
          <p:cNvSpPr/>
          <p:nvPr/>
        </p:nvSpPr>
        <p:spPr>
          <a:xfrm>
            <a:off x="6693408" y="1600200"/>
            <a:ext cx="4931359" cy="4206240"/>
          </a:xfrm>
          <a:prstGeom prst="roundRect">
            <a:avLst>
              <a:gd name="adj" fmla="val 1957"/>
            </a:avLst>
          </a:prstGeom>
          <a:solidFill>
            <a:srgbClr val="F4F5F7"/>
          </a:solidFill>
          <a:ln w="9525">
            <a:solidFill>
              <a:srgbClr val="D8DAE0"/>
            </a:solidFill>
            <a:prstDash val="solid"/>
          </a:ln>
          <a:effectLst>
            <a:outerShdw sx="100000" sy="100000" kx="0" ky="0" algn="bl" rotWithShape="0" blurRad="114300" dist="38100" dir="5400000">
              <a:srgbClr val="9A9A9A">
                <a:alpha val="28000"/>
              </a:srgbClr>
            </a:outerShdw>
          </a:effectLst>
        </p:spPr>
      </p:sp>
      <p:sp>
        <p:nvSpPr>
          <p:cNvPr id="14" name="Text 12"/>
          <p:cNvSpPr txBox="1"/>
          <p:nvPr/>
        </p:nvSpPr>
        <p:spPr>
          <a:xfrm>
            <a:off x="6967728" y="1783080"/>
            <a:ext cx="4382719" cy="365760"/>
          </a:xfrm>
          <a:prstGeom prst="rect">
            <a:avLst/>
          </a:prstGeom>
          <a:noFill/>
          <a:ln/>
        </p:spPr>
        <p:txBody>
          <a:bodyPr wrap="square" lIns="0" tIns="0" rIns="0" bIns="0" rtlCol="0" anchor="ctr"/>
          <a:lstStyle/>
          <a:p>
            <a:pPr indent="0" marL="0">
              <a:buNone/>
            </a:pPr>
            <a:r>
              <a:rPr lang="en-US" sz="1350" b="1" dirty="0">
                <a:solidFill>
                  <a:srgbClr val="9E1B32"/>
                </a:solidFill>
                <a:latin typeface="Cambria" pitchFamily="34" charset="0"/>
                <a:ea typeface="Cambria" pitchFamily="34" charset="-122"/>
                <a:cs typeface="Cambria" pitchFamily="34" charset="-120"/>
              </a:rPr>
              <a:t>Notre demarche</a:t>
            </a:r>
            <a:endParaRPr lang="en-US" sz="1350" dirty="0"/>
          </a:p>
        </p:txBody>
      </p:sp>
      <p:sp>
        <p:nvSpPr>
          <p:cNvPr id="15" name="Shape 13"/>
          <p:cNvSpPr/>
          <p:nvPr/>
        </p:nvSpPr>
        <p:spPr>
          <a:xfrm>
            <a:off x="6967728" y="2286000"/>
            <a:ext cx="365760" cy="365760"/>
          </a:xfrm>
          <a:prstGeom prst="ellipse">
            <a:avLst/>
          </a:prstGeom>
          <a:solidFill>
            <a:srgbClr val="9E1B32"/>
          </a:solidFill>
          <a:ln/>
        </p:spPr>
      </p:sp>
      <p:sp>
        <p:nvSpPr>
          <p:cNvPr id="16" name="Text 14"/>
          <p:cNvSpPr txBox="1"/>
          <p:nvPr/>
        </p:nvSpPr>
        <p:spPr>
          <a:xfrm>
            <a:off x="6967728" y="22860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7" name="Text 15"/>
          <p:cNvSpPr txBox="1"/>
          <p:nvPr/>
        </p:nvSpPr>
        <p:spPr>
          <a:xfrm>
            <a:off x="7470648" y="2231136"/>
            <a:ext cx="3879799" cy="82296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Comprendre le brief et le prototype existant, identifier les manques.</a:t>
            </a:r>
            <a:endParaRPr lang="en-US" sz="1050" dirty="0"/>
          </a:p>
        </p:txBody>
      </p:sp>
      <p:sp>
        <p:nvSpPr>
          <p:cNvPr id="18" name="Shape 16"/>
          <p:cNvSpPr/>
          <p:nvPr/>
        </p:nvSpPr>
        <p:spPr>
          <a:xfrm>
            <a:off x="6967728" y="3182112"/>
            <a:ext cx="365760" cy="365760"/>
          </a:xfrm>
          <a:prstGeom prst="ellipse">
            <a:avLst/>
          </a:prstGeom>
          <a:solidFill>
            <a:srgbClr val="9E1B32"/>
          </a:solidFill>
          <a:ln/>
        </p:spPr>
      </p:sp>
      <p:sp>
        <p:nvSpPr>
          <p:cNvPr id="19" name="Text 17"/>
          <p:cNvSpPr txBox="1"/>
          <p:nvPr/>
        </p:nvSpPr>
        <p:spPr>
          <a:xfrm>
            <a:off x="6967728" y="318211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0" name="Text 18"/>
          <p:cNvSpPr txBox="1"/>
          <p:nvPr/>
        </p:nvSpPr>
        <p:spPr>
          <a:xfrm>
            <a:off x="7470648" y="3127248"/>
            <a:ext cx="3879799" cy="82296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Concevoir l'architecture : les regles sont des donnees, le moteur est generique.</a:t>
            </a:r>
            <a:endParaRPr lang="en-US" sz="1050" dirty="0"/>
          </a:p>
        </p:txBody>
      </p:sp>
      <p:sp>
        <p:nvSpPr>
          <p:cNvPr id="21" name="Shape 19"/>
          <p:cNvSpPr/>
          <p:nvPr/>
        </p:nvSpPr>
        <p:spPr>
          <a:xfrm>
            <a:off x="6967728" y="4078224"/>
            <a:ext cx="365760" cy="365760"/>
          </a:xfrm>
          <a:prstGeom prst="ellipse">
            <a:avLst/>
          </a:prstGeom>
          <a:solidFill>
            <a:srgbClr val="9E1B32"/>
          </a:solidFill>
          <a:ln/>
        </p:spPr>
      </p:sp>
      <p:sp>
        <p:nvSpPr>
          <p:cNvPr id="22" name="Text 20"/>
          <p:cNvSpPr txBox="1"/>
          <p:nvPr/>
        </p:nvSpPr>
        <p:spPr>
          <a:xfrm>
            <a:off x="6967728" y="407822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3" name="Text 21"/>
          <p:cNvSpPr txBox="1"/>
          <p:nvPr/>
        </p:nvSpPr>
        <p:spPr>
          <a:xfrm>
            <a:off x="7470648" y="4023360"/>
            <a:ext cx="3879799" cy="82296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Construire brique par brique, en testant chaque etape avant la suivante.</a:t>
            </a:r>
            <a:endParaRPr lang="en-US" sz="1050" dirty="0"/>
          </a:p>
        </p:txBody>
      </p:sp>
      <p:sp>
        <p:nvSpPr>
          <p:cNvPr id="24" name="Shape 22"/>
          <p:cNvSpPr/>
          <p:nvPr/>
        </p:nvSpPr>
        <p:spPr>
          <a:xfrm>
            <a:off x="6967728" y="4974336"/>
            <a:ext cx="365760" cy="365760"/>
          </a:xfrm>
          <a:prstGeom prst="ellipse">
            <a:avLst/>
          </a:prstGeom>
          <a:solidFill>
            <a:srgbClr val="9E1B32"/>
          </a:solidFill>
          <a:ln/>
        </p:spPr>
      </p:sp>
      <p:sp>
        <p:nvSpPr>
          <p:cNvPr id="25" name="Text 23"/>
          <p:cNvSpPr txBox="1"/>
          <p:nvPr/>
        </p:nvSpPr>
        <p:spPr>
          <a:xfrm>
            <a:off x="6967728" y="497433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7470648" y="4919472"/>
            <a:ext cx="3879799" cy="82296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Durcir (42 tests) et documenter : conformite au brief, mapping superviseur.</a:t>
            </a:r>
            <a:endParaRPr lang="en-US" sz="1050" dirty="0"/>
          </a:p>
        </p:txBody>
      </p:sp>
      <p:sp>
        <p:nvSpPr>
          <p:cNvPr id="27" name="Text 25"/>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5B6270"/>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28" name="Text 26"/>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9E1B32"/>
                </a:solidFill>
                <a:latin typeface="Calibri" pitchFamily="34" charset="0"/>
                <a:ea typeface="Calibri" pitchFamily="34" charset="-122"/>
                <a:cs typeface="Calibri" pitchFamily="34" charset="-120"/>
              </a:rPr>
              <a:t>2 - LE CONTEXTE</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ctr"/>
          <a:lstStyle/>
          <a:p>
            <a:pPr indent="0" marL="0">
              <a:buNone/>
            </a:pPr>
            <a:r>
              <a:rPr lang="en-US" sz="2900" b="1" dirty="0">
                <a:solidFill>
                  <a:srgbClr val="1A1A1E"/>
                </a:solidFill>
                <a:latin typeface="Cambria" pitchFamily="34" charset="0"/>
                <a:ea typeface="Cambria" pitchFamily="34" charset="-122"/>
                <a:cs typeface="Cambria" pitchFamily="34" charset="-120"/>
              </a:rPr>
              <a:t>Des EUC partout - mais hors de la gouvernance</a:t>
            </a:r>
            <a:endParaRPr lang="en-US" sz="2900" dirty="0"/>
          </a:p>
        </p:txBody>
      </p:sp>
      <p:sp>
        <p:nvSpPr>
          <p:cNvPr id="4" name="Shape 2"/>
          <p:cNvSpPr/>
          <p:nvPr/>
        </p:nvSpPr>
        <p:spPr>
          <a:xfrm>
            <a:off x="566928" y="1737360"/>
            <a:ext cx="402336" cy="402336"/>
          </a:xfrm>
          <a:prstGeom prst="ellipse">
            <a:avLst/>
          </a:prstGeom>
          <a:solidFill>
            <a:srgbClr val="9E1B32"/>
          </a:solidFill>
          <a:ln/>
        </p:spPr>
      </p:sp>
      <p:sp>
        <p:nvSpPr>
          <p:cNvPr id="5" name="Text 3"/>
          <p:cNvSpPr txBox="1"/>
          <p:nvPr/>
        </p:nvSpPr>
        <p:spPr>
          <a:xfrm>
            <a:off x="566928" y="17373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33856" y="1700784"/>
            <a:ext cx="5212080" cy="310896"/>
          </a:xfrm>
          <a:prstGeom prst="rect">
            <a:avLst/>
          </a:prstGeom>
          <a:noFill/>
          <a:ln/>
        </p:spPr>
        <p:txBody>
          <a:bodyPr wrap="square" lIns="0" tIns="0" rIns="0" bIns="0" rtlCol="0" anchor="ctr"/>
          <a:lstStyle/>
          <a:p>
            <a:pPr indent="0" marL="0">
              <a:buNone/>
            </a:pPr>
            <a:r>
              <a:rPr lang="en-US" sz="1400" b="1" dirty="0">
                <a:solidFill>
                  <a:srgbClr val="1A1A1E"/>
                </a:solidFill>
                <a:latin typeface="Calibri" pitchFamily="34" charset="0"/>
                <a:ea typeface="Calibri" pitchFamily="34" charset="-122"/>
                <a:cs typeface="Calibri" pitchFamily="34" charset="-120"/>
              </a:rPr>
              <a:t>Processus critiques dans des fichiers</a:t>
            </a:r>
            <a:endParaRPr lang="en-US" sz="1400" dirty="0"/>
          </a:p>
        </p:txBody>
      </p:sp>
      <p:sp>
        <p:nvSpPr>
          <p:cNvPr id="7" name="Text 5"/>
          <p:cNvSpPr txBox="1"/>
          <p:nvPr/>
        </p:nvSpPr>
        <p:spPr>
          <a:xfrm>
            <a:off x="1133856" y="2029968"/>
            <a:ext cx="5212080" cy="640080"/>
          </a:xfrm>
          <a:prstGeom prst="rect">
            <a:avLst/>
          </a:prstGeom>
          <a:noFill/>
          <a:ln/>
        </p:spPr>
        <p:txBody>
          <a:bodyPr wrap="square" lIns="0" tIns="0" rIns="0" bIns="0" rtlCol="0" anchor="ctr"/>
          <a:lstStyle/>
          <a:p>
            <a:pPr indent="0" marL="0">
              <a:buNone/>
            </a:pPr>
            <a:r>
              <a:rPr lang="en-US" sz="1100" dirty="0">
                <a:solidFill>
                  <a:srgbClr val="5B6270"/>
                </a:solidFill>
                <a:latin typeface="Calibri" pitchFamily="34" charset="0"/>
                <a:ea typeface="Calibri" pitchFamily="34" charset="-122"/>
                <a:cs typeface="Calibri" pitchFamily="34" charset="-120"/>
              </a:rPr>
              <a:t>Excel, Access, scripts alimentent des reportings, hors du SI et de ses controles.</a:t>
            </a:r>
            <a:endParaRPr lang="en-US" sz="1100" dirty="0"/>
          </a:p>
        </p:txBody>
      </p:sp>
      <p:sp>
        <p:nvSpPr>
          <p:cNvPr id="8" name="Shape 6"/>
          <p:cNvSpPr/>
          <p:nvPr/>
        </p:nvSpPr>
        <p:spPr>
          <a:xfrm>
            <a:off x="566928" y="2761488"/>
            <a:ext cx="402336" cy="402336"/>
          </a:xfrm>
          <a:prstGeom prst="ellipse">
            <a:avLst/>
          </a:prstGeom>
          <a:solidFill>
            <a:srgbClr val="9E1B32"/>
          </a:solidFill>
          <a:ln/>
        </p:spPr>
      </p:sp>
      <p:sp>
        <p:nvSpPr>
          <p:cNvPr id="9" name="Text 7"/>
          <p:cNvSpPr txBox="1"/>
          <p:nvPr/>
        </p:nvSpPr>
        <p:spPr>
          <a:xfrm>
            <a:off x="566928" y="2761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133856" y="2724912"/>
            <a:ext cx="5212080" cy="310896"/>
          </a:xfrm>
          <a:prstGeom prst="rect">
            <a:avLst/>
          </a:prstGeom>
          <a:noFill/>
          <a:ln/>
        </p:spPr>
        <p:txBody>
          <a:bodyPr wrap="square" lIns="0" tIns="0" rIns="0" bIns="0" rtlCol="0" anchor="ctr"/>
          <a:lstStyle/>
          <a:p>
            <a:pPr indent="0" marL="0">
              <a:buNone/>
            </a:pPr>
            <a:r>
              <a:rPr lang="en-US" sz="1400" b="1" dirty="0">
                <a:solidFill>
                  <a:srgbClr val="1A1A1E"/>
                </a:solidFill>
                <a:latin typeface="Calibri" pitchFamily="34" charset="0"/>
                <a:ea typeface="Calibri" pitchFamily="34" charset="-122"/>
                <a:cs typeface="Calibri" pitchFamily="34" charset="-120"/>
              </a:rPr>
              <a:t>Controles ad hoc, non traces</a:t>
            </a:r>
            <a:endParaRPr lang="en-US" sz="1400" dirty="0"/>
          </a:p>
        </p:txBody>
      </p:sp>
      <p:sp>
        <p:nvSpPr>
          <p:cNvPr id="11" name="Text 9"/>
          <p:cNvSpPr txBox="1"/>
          <p:nvPr/>
        </p:nvSpPr>
        <p:spPr>
          <a:xfrm>
            <a:off x="1133856" y="3054096"/>
            <a:ext cx="5212080" cy="640080"/>
          </a:xfrm>
          <a:prstGeom prst="rect">
            <a:avLst/>
          </a:prstGeom>
          <a:noFill/>
          <a:ln/>
        </p:spPr>
        <p:txBody>
          <a:bodyPr wrap="square" lIns="0" tIns="0" rIns="0" bIns="0" rtlCol="0" anchor="ctr"/>
          <a:lstStyle/>
          <a:p>
            <a:pPr indent="0" marL="0">
              <a:buNone/>
            </a:pPr>
            <a:r>
              <a:rPr lang="en-US" sz="1100" dirty="0">
                <a:solidFill>
                  <a:srgbClr val="5B6270"/>
                </a:solidFill>
                <a:latin typeface="Calibri" pitchFamily="34" charset="0"/>
                <a:ea typeface="Calibri" pitchFamily="34" charset="-122"/>
                <a:cs typeface="Calibri" pitchFamily="34" charset="-120"/>
              </a:rPr>
              <a:t>Chaque equipe verifie a la main, sans preuve exploitable d'une fois sur l'autre.</a:t>
            </a:r>
            <a:endParaRPr lang="en-US" sz="1100" dirty="0"/>
          </a:p>
        </p:txBody>
      </p:sp>
      <p:sp>
        <p:nvSpPr>
          <p:cNvPr id="12" name="Shape 10"/>
          <p:cNvSpPr/>
          <p:nvPr/>
        </p:nvSpPr>
        <p:spPr>
          <a:xfrm>
            <a:off x="566928" y="3785616"/>
            <a:ext cx="402336" cy="402336"/>
          </a:xfrm>
          <a:prstGeom prst="ellipse">
            <a:avLst/>
          </a:prstGeom>
          <a:solidFill>
            <a:srgbClr val="9E1B32"/>
          </a:solidFill>
          <a:ln/>
        </p:spPr>
      </p:sp>
      <p:sp>
        <p:nvSpPr>
          <p:cNvPr id="13" name="Text 11"/>
          <p:cNvSpPr txBox="1"/>
          <p:nvPr/>
        </p:nvSpPr>
        <p:spPr>
          <a:xfrm>
            <a:off x="566928" y="378561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33856" y="3749040"/>
            <a:ext cx="5212080" cy="310896"/>
          </a:xfrm>
          <a:prstGeom prst="rect">
            <a:avLst/>
          </a:prstGeom>
          <a:noFill/>
          <a:ln/>
        </p:spPr>
        <p:txBody>
          <a:bodyPr wrap="square" lIns="0" tIns="0" rIns="0" bIns="0" rtlCol="0" anchor="ctr"/>
          <a:lstStyle/>
          <a:p>
            <a:pPr indent="0" marL="0">
              <a:buNone/>
            </a:pPr>
            <a:r>
              <a:rPr lang="en-US" sz="1400" b="1" dirty="0">
                <a:solidFill>
                  <a:srgbClr val="1A1A1E"/>
                </a:solidFill>
                <a:latin typeface="Calibri" pitchFamily="34" charset="0"/>
                <a:ea typeface="Calibri" pitchFamily="34" charset="-122"/>
                <a:cs typeface="Calibri" pitchFamily="34" charset="-120"/>
              </a:rPr>
              <a:t>Le regulateur veut des preuves</a:t>
            </a:r>
            <a:endParaRPr lang="en-US" sz="1400" dirty="0"/>
          </a:p>
        </p:txBody>
      </p:sp>
      <p:sp>
        <p:nvSpPr>
          <p:cNvPr id="15" name="Text 13"/>
          <p:cNvSpPr txBox="1"/>
          <p:nvPr/>
        </p:nvSpPr>
        <p:spPr>
          <a:xfrm>
            <a:off x="1133856" y="4078224"/>
            <a:ext cx="5212080" cy="640080"/>
          </a:xfrm>
          <a:prstGeom prst="rect">
            <a:avLst/>
          </a:prstGeom>
          <a:noFill/>
          <a:ln/>
        </p:spPr>
        <p:txBody>
          <a:bodyPr wrap="square" lIns="0" tIns="0" rIns="0" bIns="0" rtlCol="0" anchor="ctr"/>
          <a:lstStyle/>
          <a:p>
            <a:pPr indent="0" marL="0">
              <a:buNone/>
            </a:pPr>
            <a:r>
              <a:rPr lang="en-US" sz="1100" dirty="0">
                <a:solidFill>
                  <a:srgbClr val="5B6270"/>
                </a:solidFill>
                <a:latin typeface="Calibri" pitchFamily="34" charset="0"/>
                <a:ea typeface="Calibri" pitchFamily="34" charset="-122"/>
                <a:cs typeface="Calibri" pitchFamily="34" charset="-120"/>
              </a:rPr>
              <a:t>BCBS 239 exige des controles traces, reproductibles, auditables.</a:t>
            </a:r>
            <a:endParaRPr lang="en-US" sz="1100" dirty="0"/>
          </a:p>
        </p:txBody>
      </p:sp>
      <p:sp>
        <p:nvSpPr>
          <p:cNvPr id="16" name="Shape 14"/>
          <p:cNvSpPr/>
          <p:nvPr/>
        </p:nvSpPr>
        <p:spPr>
          <a:xfrm>
            <a:off x="6693408" y="1737360"/>
            <a:ext cx="4931359" cy="3200400"/>
          </a:xfrm>
          <a:prstGeom prst="roundRect">
            <a:avLst>
              <a:gd name="adj" fmla="val 2571"/>
            </a:avLst>
          </a:prstGeom>
          <a:solidFill>
            <a:srgbClr val="F4F5F7"/>
          </a:solidFill>
          <a:ln w="9525">
            <a:solidFill>
              <a:srgbClr val="D8DAE0"/>
            </a:solidFill>
            <a:prstDash val="solid"/>
          </a:ln>
          <a:effectLst>
            <a:outerShdw sx="100000" sy="100000" kx="0" ky="0" algn="bl" rotWithShape="0" blurRad="114300" dist="38100" dir="5400000">
              <a:srgbClr val="9A9A9A">
                <a:alpha val="28000"/>
              </a:srgbClr>
            </a:outerShdw>
          </a:effectLst>
        </p:spPr>
      </p:sp>
      <p:sp>
        <p:nvSpPr>
          <p:cNvPr id="17" name="Text 15"/>
          <p:cNvSpPr txBox="1"/>
          <p:nvPr/>
        </p:nvSpPr>
        <p:spPr>
          <a:xfrm>
            <a:off x="6967728" y="1920240"/>
            <a:ext cx="4382719" cy="365760"/>
          </a:xfrm>
          <a:prstGeom prst="rect">
            <a:avLst/>
          </a:prstGeom>
          <a:noFill/>
          <a:ln/>
        </p:spPr>
        <p:txBody>
          <a:bodyPr wrap="square" lIns="0" tIns="0" rIns="0" bIns="0" rtlCol="0" anchor="ctr"/>
          <a:lstStyle/>
          <a:p>
            <a:pPr indent="0" marL="0">
              <a:buNone/>
            </a:pPr>
            <a:r>
              <a:rPr lang="en-US" sz="1350" b="1" dirty="0">
                <a:solidFill>
                  <a:srgbClr val="9E1B32"/>
                </a:solidFill>
                <a:latin typeface="Cambria" pitchFamily="34" charset="0"/>
                <a:ea typeface="Cambria" pitchFamily="34" charset="-122"/>
                <a:cs typeface="Cambria" pitchFamily="34" charset="-120"/>
              </a:rPr>
              <a:t>La cible fixee par le brief</a:t>
            </a:r>
            <a:endParaRPr lang="en-US" sz="1350" dirty="0"/>
          </a:p>
        </p:txBody>
      </p:sp>
      <p:sp>
        <p:nvSpPr>
          <p:cNvPr id="18" name="Shape 16"/>
          <p:cNvSpPr/>
          <p:nvPr/>
        </p:nvSpPr>
        <p:spPr>
          <a:xfrm>
            <a:off x="6967728" y="2423160"/>
            <a:ext cx="1033272" cy="420624"/>
          </a:xfrm>
          <a:prstGeom prst="roundRect">
            <a:avLst>
              <a:gd name="adj" fmla="val 13043"/>
            </a:avLst>
          </a:prstGeom>
          <a:solidFill>
            <a:srgbClr val="2F3C7E"/>
          </a:solidFill>
          <a:ln/>
        </p:spPr>
      </p:sp>
      <p:sp>
        <p:nvSpPr>
          <p:cNvPr id="19" name="Text 17"/>
          <p:cNvSpPr txBox="1"/>
          <p:nvPr/>
        </p:nvSpPr>
        <p:spPr>
          <a:xfrm>
            <a:off x="6967728" y="2423160"/>
            <a:ext cx="10332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Definir</a:t>
            </a:r>
            <a:endParaRPr lang="en-US" sz="850" dirty="0"/>
          </a:p>
        </p:txBody>
      </p:sp>
      <p:sp>
        <p:nvSpPr>
          <p:cNvPr id="20" name="Shape 18"/>
          <p:cNvSpPr/>
          <p:nvPr/>
        </p:nvSpPr>
        <p:spPr>
          <a:xfrm>
            <a:off x="8046720" y="2423160"/>
            <a:ext cx="1033272" cy="420624"/>
          </a:xfrm>
          <a:prstGeom prst="roundRect">
            <a:avLst>
              <a:gd name="adj" fmla="val 13043"/>
            </a:avLst>
          </a:prstGeom>
          <a:solidFill>
            <a:srgbClr val="2F3C7E"/>
          </a:solidFill>
          <a:ln/>
        </p:spPr>
      </p:sp>
      <p:sp>
        <p:nvSpPr>
          <p:cNvPr id="21" name="Text 19"/>
          <p:cNvSpPr txBox="1"/>
          <p:nvPr/>
        </p:nvSpPr>
        <p:spPr>
          <a:xfrm>
            <a:off x="8046720" y="2423160"/>
            <a:ext cx="10332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Executer</a:t>
            </a:r>
            <a:endParaRPr lang="en-US" sz="850" dirty="0"/>
          </a:p>
        </p:txBody>
      </p:sp>
      <p:sp>
        <p:nvSpPr>
          <p:cNvPr id="22" name="Shape 20"/>
          <p:cNvSpPr/>
          <p:nvPr/>
        </p:nvSpPr>
        <p:spPr>
          <a:xfrm>
            <a:off x="9125712" y="2423160"/>
            <a:ext cx="1033272" cy="420624"/>
          </a:xfrm>
          <a:prstGeom prst="roundRect">
            <a:avLst>
              <a:gd name="adj" fmla="val 13043"/>
            </a:avLst>
          </a:prstGeom>
          <a:solidFill>
            <a:srgbClr val="2F3C7E"/>
          </a:solidFill>
          <a:ln/>
        </p:spPr>
      </p:sp>
      <p:sp>
        <p:nvSpPr>
          <p:cNvPr id="23" name="Text 21"/>
          <p:cNvSpPr txBox="1"/>
          <p:nvPr/>
        </p:nvSpPr>
        <p:spPr>
          <a:xfrm>
            <a:off x="9125712" y="2423160"/>
            <a:ext cx="10332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Restituer</a:t>
            </a:r>
            <a:endParaRPr lang="en-US" sz="850" dirty="0"/>
          </a:p>
        </p:txBody>
      </p:sp>
      <p:sp>
        <p:nvSpPr>
          <p:cNvPr id="24" name="Shape 22"/>
          <p:cNvSpPr/>
          <p:nvPr/>
        </p:nvSpPr>
        <p:spPr>
          <a:xfrm>
            <a:off x="10204704" y="2423160"/>
            <a:ext cx="1033272" cy="420624"/>
          </a:xfrm>
          <a:prstGeom prst="roundRect">
            <a:avLst>
              <a:gd name="adj" fmla="val 13043"/>
            </a:avLst>
          </a:prstGeom>
          <a:solidFill>
            <a:srgbClr val="9E1B32"/>
          </a:solidFill>
          <a:ln/>
        </p:spPr>
      </p:sp>
      <p:sp>
        <p:nvSpPr>
          <p:cNvPr id="25" name="Text 23"/>
          <p:cNvSpPr txBox="1"/>
          <p:nvPr/>
        </p:nvSpPr>
        <p:spPr>
          <a:xfrm>
            <a:off x="10204704" y="2423160"/>
            <a:ext cx="103327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Prouver</a:t>
            </a:r>
            <a:endParaRPr lang="en-US" sz="850" dirty="0"/>
          </a:p>
        </p:txBody>
      </p:sp>
      <p:sp>
        <p:nvSpPr>
          <p:cNvPr id="26" name="Text 24"/>
          <p:cNvSpPr txBox="1"/>
          <p:nvPr/>
        </p:nvSpPr>
        <p:spPr>
          <a:xfrm>
            <a:off x="6967728" y="3108960"/>
            <a:ext cx="4382719" cy="1645920"/>
          </a:xfrm>
          <a:prstGeom prst="rect">
            <a:avLst/>
          </a:prstGeom>
          <a:noFill/>
          <a:ln/>
        </p:spPr>
        <p:txBody>
          <a:bodyPr wrap="square" lIns="0" tIns="0" rIns="0" bIns="0" rtlCol="0" anchor="t"/>
          <a:lstStyle/>
          <a:p>
            <a:pPr marL="152400" indent="-152400">
              <a:spcAft>
                <a:spcPts val="1000"/>
              </a:spcAft>
              <a:buSzPct val="100000"/>
              <a:buChar char="–"/>
            </a:pPr>
            <a:r>
              <a:rPr lang="en-US" sz="1100" dirty="0">
                <a:solidFill>
                  <a:srgbClr val="1A1A1E"/>
                </a:solidFill>
                <a:latin typeface="Calibri" pitchFamily="34" charset="0"/>
                <a:ea typeface="Calibri" pitchFamily="34" charset="-122"/>
                <a:cs typeface="Calibri" pitchFamily="34" charset="-120"/>
              </a:rPr>
              <a:t>6 dimensions de qualite.</a:t>
            </a:r>
            <a:endParaRPr lang="en-US" sz="1100" dirty="0"/>
          </a:p>
          <a:p>
            <a:pPr marL="152400" indent="-152400">
              <a:spcAft>
                <a:spcPts val="1000"/>
              </a:spcAft>
              <a:buSzPct val="100000"/>
              <a:buChar char="–"/>
            </a:pPr>
            <a:r>
              <a:rPr lang="en-US" sz="1100" dirty="0">
                <a:solidFill>
                  <a:srgbClr val="1A1A1E"/>
                </a:solidFill>
                <a:latin typeface="Calibri" pitchFamily="34" charset="0"/>
                <a:ea typeface="Calibri" pitchFamily="34" charset="-122"/>
                <a:cs typeface="Calibri" pitchFamily="34" charset="-120"/>
              </a:rPr>
              <a:t>Frugal (IA optionnelle), deterministe, reutilisable.</a:t>
            </a:r>
            <a:endParaRPr lang="en-US" sz="1100" dirty="0"/>
          </a:p>
        </p:txBody>
      </p:sp>
      <p:sp>
        <p:nvSpPr>
          <p:cNvPr id="27" name="Text 25"/>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5B6270"/>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28" name="Text 26"/>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9E1B32"/>
                </a:solidFill>
                <a:latin typeface="Calibri" pitchFamily="34" charset="0"/>
                <a:ea typeface="Calibri" pitchFamily="34" charset="-122"/>
                <a:cs typeface="Calibri" pitchFamily="34" charset="-120"/>
              </a:rPr>
              <a:t>3 - LA SOLUTION</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ctr"/>
          <a:lstStyle/>
          <a:p>
            <a:pPr indent="0" marL="0">
              <a:buNone/>
            </a:pPr>
            <a:r>
              <a:rPr lang="en-US" sz="2900" b="1" dirty="0">
                <a:solidFill>
                  <a:srgbClr val="1A1A1E"/>
                </a:solidFill>
                <a:latin typeface="Cambria" pitchFamily="34" charset="0"/>
                <a:ea typeface="Cambria" pitchFamily="34" charset="-122"/>
                <a:cs typeface="Cambria" pitchFamily="34" charset="-120"/>
              </a:rPr>
              <a:t>On configure, on ne code pas</a:t>
            </a:r>
            <a:endParaRPr lang="en-US" sz="2900" dirty="0"/>
          </a:p>
        </p:txBody>
      </p:sp>
      <p:sp>
        <p:nvSpPr>
          <p:cNvPr id="4" name="Text 2"/>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400" i="1" dirty="0">
                <a:solidFill>
                  <a:srgbClr val="2F3C7E"/>
                </a:solidFill>
                <a:latin typeface="Calibri" pitchFamily="34" charset="0"/>
                <a:ea typeface="Calibri" pitchFamily="34" charset="-122"/>
                <a:cs typeface="Calibri" pitchFamily="34" charset="-120"/>
              </a:rPr>
              <a:t>Les regles sont des donnees. La preuve est produite par defaut.</a:t>
            </a:r>
            <a:endParaRPr lang="en-US" sz="1400" dirty="0"/>
          </a:p>
        </p:txBody>
      </p:sp>
      <p:sp>
        <p:nvSpPr>
          <p:cNvPr id="5" name="Shape 3"/>
          <p:cNvSpPr/>
          <p:nvPr/>
        </p:nvSpPr>
        <p:spPr>
          <a:xfrm>
            <a:off x="566928" y="2331720"/>
            <a:ext cx="2468880" cy="1554480"/>
          </a:xfrm>
          <a:prstGeom prst="roundRect">
            <a:avLst>
              <a:gd name="adj" fmla="val 5294"/>
            </a:avLst>
          </a:prstGeom>
          <a:solidFill>
            <a:srgbClr val="1A1A1E"/>
          </a:solidFill>
          <a:ln/>
          <a:effectLst>
            <a:outerShdw sx="100000" sy="100000" kx="0" ky="0" algn="bl" rotWithShape="0" blurRad="114300" dist="38100" dir="5400000">
              <a:srgbClr val="9A9A9A">
                <a:alpha val="28000"/>
              </a:srgbClr>
            </a:outerShdw>
          </a:effectLst>
        </p:spPr>
      </p:sp>
      <p:sp>
        <p:nvSpPr>
          <p:cNvPr id="6" name="Text 4"/>
          <p:cNvSpPr txBox="1"/>
          <p:nvPr/>
        </p:nvSpPr>
        <p:spPr>
          <a:xfrm>
            <a:off x="566928" y="2651760"/>
            <a:ext cx="246888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Catalogue</a:t>
            </a:r>
            <a:endParaRPr lang="en-US" sz="1700" dirty="0"/>
          </a:p>
        </p:txBody>
      </p:sp>
      <p:sp>
        <p:nvSpPr>
          <p:cNvPr id="7" name="Text 5"/>
          <p:cNvSpPr txBox="1"/>
          <p:nvPr/>
        </p:nvSpPr>
        <p:spPr>
          <a:xfrm>
            <a:off x="566928" y="3200400"/>
            <a:ext cx="2468880" cy="365760"/>
          </a:xfrm>
          <a:prstGeom prst="rect">
            <a:avLst/>
          </a:prstGeom>
          <a:noFill/>
          <a:ln/>
        </p:spPr>
        <p:txBody>
          <a:bodyPr wrap="square" lIns="0" tIns="0" rIns="0" bIns="0" rtlCol="0" anchor="ctr"/>
          <a:lstStyle/>
          <a:p>
            <a:pPr algn="ctr" indent="0" marL="0">
              <a:buNone/>
            </a:pPr>
            <a:r>
              <a:rPr lang="en-US" sz="1050" dirty="0">
                <a:solidFill>
                  <a:srgbClr val="D8D4D0"/>
                </a:solidFill>
                <a:latin typeface="Calibri" pitchFamily="34" charset="0"/>
                <a:ea typeface="Calibri" pitchFamily="34" charset="-122"/>
                <a:cs typeface="Calibri" pitchFamily="34" charset="-120"/>
              </a:rPr>
              <a:t>definit</a:t>
            </a:r>
            <a:endParaRPr lang="en-US" sz="1050" dirty="0"/>
          </a:p>
        </p:txBody>
      </p:sp>
      <p:sp>
        <p:nvSpPr>
          <p:cNvPr id="8" name="Shape 6"/>
          <p:cNvSpPr/>
          <p:nvPr/>
        </p:nvSpPr>
        <p:spPr>
          <a:xfrm>
            <a:off x="3438144" y="2331720"/>
            <a:ext cx="2468880" cy="1554480"/>
          </a:xfrm>
          <a:prstGeom prst="roundRect">
            <a:avLst>
              <a:gd name="adj" fmla="val 5294"/>
            </a:avLst>
          </a:prstGeom>
          <a:solidFill>
            <a:srgbClr val="1A1A1E"/>
          </a:solidFill>
          <a:ln/>
          <a:effectLst>
            <a:outerShdw sx="100000" sy="100000" kx="0" ky="0" algn="bl" rotWithShape="0" blurRad="114300" dist="38100" dir="5400000">
              <a:srgbClr val="9A9A9A">
                <a:alpha val="28000"/>
              </a:srgbClr>
            </a:outerShdw>
          </a:effectLst>
        </p:spPr>
      </p:sp>
      <p:sp>
        <p:nvSpPr>
          <p:cNvPr id="9" name="Text 7"/>
          <p:cNvSpPr txBox="1"/>
          <p:nvPr/>
        </p:nvSpPr>
        <p:spPr>
          <a:xfrm>
            <a:off x="3438144" y="2651760"/>
            <a:ext cx="246888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Moteur</a:t>
            </a:r>
            <a:endParaRPr lang="en-US" sz="1700" dirty="0"/>
          </a:p>
        </p:txBody>
      </p:sp>
      <p:sp>
        <p:nvSpPr>
          <p:cNvPr id="10" name="Text 8"/>
          <p:cNvSpPr txBox="1"/>
          <p:nvPr/>
        </p:nvSpPr>
        <p:spPr>
          <a:xfrm>
            <a:off x="3438144" y="3200400"/>
            <a:ext cx="2468880" cy="365760"/>
          </a:xfrm>
          <a:prstGeom prst="rect">
            <a:avLst/>
          </a:prstGeom>
          <a:noFill/>
          <a:ln/>
        </p:spPr>
        <p:txBody>
          <a:bodyPr wrap="square" lIns="0" tIns="0" rIns="0" bIns="0" rtlCol="0" anchor="ctr"/>
          <a:lstStyle/>
          <a:p>
            <a:pPr algn="ctr" indent="0" marL="0">
              <a:buNone/>
            </a:pPr>
            <a:r>
              <a:rPr lang="en-US" sz="1050" dirty="0">
                <a:solidFill>
                  <a:srgbClr val="D8D4D0"/>
                </a:solidFill>
                <a:latin typeface="Calibri" pitchFamily="34" charset="0"/>
                <a:ea typeface="Calibri" pitchFamily="34" charset="-122"/>
                <a:cs typeface="Calibri" pitchFamily="34" charset="-120"/>
              </a:rPr>
              <a:t>execute</a:t>
            </a:r>
            <a:endParaRPr lang="en-US" sz="1050" dirty="0"/>
          </a:p>
        </p:txBody>
      </p:sp>
      <p:sp>
        <p:nvSpPr>
          <p:cNvPr id="11" name="Shape 9"/>
          <p:cNvSpPr/>
          <p:nvPr/>
        </p:nvSpPr>
        <p:spPr>
          <a:xfrm>
            <a:off x="6309360" y="2331720"/>
            <a:ext cx="2468880" cy="1554480"/>
          </a:xfrm>
          <a:prstGeom prst="roundRect">
            <a:avLst>
              <a:gd name="adj" fmla="val 5294"/>
            </a:avLst>
          </a:prstGeom>
          <a:solidFill>
            <a:srgbClr val="1A1A1E"/>
          </a:solidFill>
          <a:ln/>
          <a:effectLst>
            <a:outerShdw sx="100000" sy="100000" kx="0" ky="0" algn="bl" rotWithShape="0" blurRad="114300" dist="38100" dir="5400000">
              <a:srgbClr val="9A9A9A">
                <a:alpha val="28000"/>
              </a:srgbClr>
            </a:outerShdw>
          </a:effectLst>
        </p:spPr>
      </p:sp>
      <p:sp>
        <p:nvSpPr>
          <p:cNvPr id="12" name="Text 10"/>
          <p:cNvSpPr txBox="1"/>
          <p:nvPr/>
        </p:nvSpPr>
        <p:spPr>
          <a:xfrm>
            <a:off x="6309360" y="2651760"/>
            <a:ext cx="246888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Reporting</a:t>
            </a:r>
            <a:endParaRPr lang="en-US" sz="1700" dirty="0"/>
          </a:p>
        </p:txBody>
      </p:sp>
      <p:sp>
        <p:nvSpPr>
          <p:cNvPr id="13" name="Text 11"/>
          <p:cNvSpPr txBox="1"/>
          <p:nvPr/>
        </p:nvSpPr>
        <p:spPr>
          <a:xfrm>
            <a:off x="6309360" y="3200400"/>
            <a:ext cx="2468880" cy="365760"/>
          </a:xfrm>
          <a:prstGeom prst="rect">
            <a:avLst/>
          </a:prstGeom>
          <a:noFill/>
          <a:ln/>
        </p:spPr>
        <p:txBody>
          <a:bodyPr wrap="square" lIns="0" tIns="0" rIns="0" bIns="0" rtlCol="0" anchor="ctr"/>
          <a:lstStyle/>
          <a:p>
            <a:pPr algn="ctr" indent="0" marL="0">
              <a:buNone/>
            </a:pPr>
            <a:r>
              <a:rPr lang="en-US" sz="1050" dirty="0">
                <a:solidFill>
                  <a:srgbClr val="D8D4D0"/>
                </a:solidFill>
                <a:latin typeface="Calibri" pitchFamily="34" charset="0"/>
                <a:ea typeface="Calibri" pitchFamily="34" charset="-122"/>
                <a:cs typeface="Calibri" pitchFamily="34" charset="-120"/>
              </a:rPr>
              <a:t>restitue</a:t>
            </a:r>
            <a:endParaRPr lang="en-US" sz="1050" dirty="0"/>
          </a:p>
        </p:txBody>
      </p:sp>
      <p:sp>
        <p:nvSpPr>
          <p:cNvPr id="14" name="Shape 12"/>
          <p:cNvSpPr/>
          <p:nvPr/>
        </p:nvSpPr>
        <p:spPr>
          <a:xfrm>
            <a:off x="9180576" y="2331720"/>
            <a:ext cx="2468880" cy="1554480"/>
          </a:xfrm>
          <a:prstGeom prst="roundRect">
            <a:avLst>
              <a:gd name="adj" fmla="val 5294"/>
            </a:avLst>
          </a:prstGeom>
          <a:solidFill>
            <a:srgbClr val="9E1B32"/>
          </a:solidFill>
          <a:ln/>
          <a:effectLst>
            <a:outerShdw sx="100000" sy="100000" kx="0" ky="0" algn="bl" rotWithShape="0" blurRad="114300" dist="38100" dir="5400000">
              <a:srgbClr val="9A9A9A">
                <a:alpha val="28000"/>
              </a:srgbClr>
            </a:outerShdw>
          </a:effectLst>
        </p:spPr>
      </p:sp>
      <p:sp>
        <p:nvSpPr>
          <p:cNvPr id="15" name="Text 13"/>
          <p:cNvSpPr txBox="1"/>
          <p:nvPr/>
        </p:nvSpPr>
        <p:spPr>
          <a:xfrm>
            <a:off x="9180576" y="2651760"/>
            <a:ext cx="246888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Audit</a:t>
            </a:r>
            <a:endParaRPr lang="en-US" sz="1700" dirty="0"/>
          </a:p>
        </p:txBody>
      </p:sp>
      <p:sp>
        <p:nvSpPr>
          <p:cNvPr id="16" name="Text 14"/>
          <p:cNvSpPr txBox="1"/>
          <p:nvPr/>
        </p:nvSpPr>
        <p:spPr>
          <a:xfrm>
            <a:off x="9180576" y="3200400"/>
            <a:ext cx="2468880" cy="365760"/>
          </a:xfrm>
          <a:prstGeom prst="rect">
            <a:avLst/>
          </a:prstGeom>
          <a:noFill/>
          <a:ln/>
        </p:spPr>
        <p:txBody>
          <a:bodyPr wrap="square" lIns="0" tIns="0" rIns="0" bIns="0" rtlCol="0" anchor="ctr"/>
          <a:lstStyle/>
          <a:p>
            <a:pPr algn="ctr" indent="0" marL="0">
              <a:buNone/>
            </a:pPr>
            <a:r>
              <a:rPr lang="en-US" sz="1050" dirty="0">
                <a:solidFill>
                  <a:srgbClr val="D8D4D0"/>
                </a:solidFill>
                <a:latin typeface="Calibri" pitchFamily="34" charset="0"/>
                <a:ea typeface="Calibri" pitchFamily="34" charset="-122"/>
                <a:cs typeface="Calibri" pitchFamily="34" charset="-120"/>
              </a:rPr>
              <a:t>prouve</a:t>
            </a:r>
            <a:endParaRPr lang="en-US" sz="1050" dirty="0"/>
          </a:p>
        </p:txBody>
      </p:sp>
      <p:sp>
        <p:nvSpPr>
          <p:cNvPr id="17" name="Text 15"/>
          <p:cNvSpPr txBox="1"/>
          <p:nvPr/>
        </p:nvSpPr>
        <p:spPr>
          <a:xfrm>
            <a:off x="3035808" y="2788920"/>
            <a:ext cx="402336" cy="640080"/>
          </a:xfrm>
          <a:prstGeom prst="rect">
            <a:avLst/>
          </a:prstGeom>
          <a:noFill/>
          <a:ln/>
        </p:spPr>
        <p:txBody>
          <a:bodyPr wrap="square" lIns="0" tIns="0" rIns="0" bIns="0" rtlCol="0" anchor="ctr"/>
          <a:lstStyle/>
          <a:p>
            <a:pPr algn="ctr" indent="0" marL="0">
              <a:buNone/>
            </a:pPr>
            <a:r>
              <a:rPr lang="en-US" sz="2200" b="1" dirty="0">
                <a:solidFill>
                  <a:srgbClr val="9E1B32"/>
                </a:solidFill>
                <a:latin typeface="Cambria" pitchFamily="34" charset="0"/>
                <a:ea typeface="Cambria" pitchFamily="34" charset="-122"/>
                <a:cs typeface="Cambria" pitchFamily="34" charset="-120"/>
              </a:rPr>
              <a:t>&gt;</a:t>
            </a:r>
            <a:endParaRPr lang="en-US" sz="2200" dirty="0"/>
          </a:p>
        </p:txBody>
      </p:sp>
      <p:sp>
        <p:nvSpPr>
          <p:cNvPr id="18" name="Text 16"/>
          <p:cNvSpPr txBox="1"/>
          <p:nvPr/>
        </p:nvSpPr>
        <p:spPr>
          <a:xfrm>
            <a:off x="5907024" y="2788920"/>
            <a:ext cx="402336" cy="640080"/>
          </a:xfrm>
          <a:prstGeom prst="rect">
            <a:avLst/>
          </a:prstGeom>
          <a:noFill/>
          <a:ln/>
        </p:spPr>
        <p:txBody>
          <a:bodyPr wrap="square" lIns="0" tIns="0" rIns="0" bIns="0" rtlCol="0" anchor="ctr"/>
          <a:lstStyle/>
          <a:p>
            <a:pPr algn="ctr" indent="0" marL="0">
              <a:buNone/>
            </a:pPr>
            <a:r>
              <a:rPr lang="en-US" sz="2200" b="1" dirty="0">
                <a:solidFill>
                  <a:srgbClr val="9E1B32"/>
                </a:solidFill>
                <a:latin typeface="Cambria" pitchFamily="34" charset="0"/>
                <a:ea typeface="Cambria" pitchFamily="34" charset="-122"/>
                <a:cs typeface="Cambria" pitchFamily="34" charset="-120"/>
              </a:rPr>
              <a:t>&gt;</a:t>
            </a:r>
            <a:endParaRPr lang="en-US" sz="2200" dirty="0"/>
          </a:p>
        </p:txBody>
      </p:sp>
      <p:sp>
        <p:nvSpPr>
          <p:cNvPr id="19" name="Text 17"/>
          <p:cNvSpPr txBox="1"/>
          <p:nvPr/>
        </p:nvSpPr>
        <p:spPr>
          <a:xfrm>
            <a:off x="8778240" y="2788920"/>
            <a:ext cx="402336" cy="640080"/>
          </a:xfrm>
          <a:prstGeom prst="rect">
            <a:avLst/>
          </a:prstGeom>
          <a:noFill/>
          <a:ln/>
        </p:spPr>
        <p:txBody>
          <a:bodyPr wrap="square" lIns="0" tIns="0" rIns="0" bIns="0" rtlCol="0" anchor="ctr"/>
          <a:lstStyle/>
          <a:p>
            <a:pPr algn="ctr" indent="0" marL="0">
              <a:buNone/>
            </a:pPr>
            <a:r>
              <a:rPr lang="en-US" sz="2200" b="1" dirty="0">
                <a:solidFill>
                  <a:srgbClr val="9E1B32"/>
                </a:solidFill>
                <a:latin typeface="Cambria" pitchFamily="34" charset="0"/>
                <a:ea typeface="Cambria" pitchFamily="34" charset="-122"/>
                <a:cs typeface="Cambria" pitchFamily="34" charset="-120"/>
              </a:rPr>
              <a:t>&gt;</a:t>
            </a:r>
            <a:endParaRPr lang="en-US" sz="2200" dirty="0"/>
          </a:p>
        </p:txBody>
      </p:sp>
      <p:sp>
        <p:nvSpPr>
          <p:cNvPr id="20" name="Shape 18"/>
          <p:cNvSpPr/>
          <p:nvPr/>
        </p:nvSpPr>
        <p:spPr>
          <a:xfrm>
            <a:off x="566928" y="4343400"/>
            <a:ext cx="11057839" cy="960120"/>
          </a:xfrm>
          <a:prstGeom prst="roundRect">
            <a:avLst>
              <a:gd name="adj" fmla="val 8571"/>
            </a:avLst>
          </a:prstGeom>
          <a:solidFill>
            <a:srgbClr val="F4F5F7"/>
          </a:solidFill>
          <a:ln w="9525">
            <a:solidFill>
              <a:srgbClr val="D8DAE0"/>
            </a:solidFill>
            <a:prstDash val="solid"/>
          </a:ln>
          <a:effectLst>
            <a:outerShdw sx="100000" sy="100000" kx="0" ky="0" algn="bl" rotWithShape="0" blurRad="114300" dist="38100" dir="5400000">
              <a:srgbClr val="9A9A9A">
                <a:alpha val="28000"/>
              </a:srgbClr>
            </a:outerShdw>
          </a:effectLst>
        </p:spPr>
      </p:sp>
      <p:sp>
        <p:nvSpPr>
          <p:cNvPr id="21" name="Text 19"/>
          <p:cNvSpPr txBox="1"/>
          <p:nvPr/>
        </p:nvSpPr>
        <p:spPr>
          <a:xfrm>
            <a:off x="886968" y="4544568"/>
            <a:ext cx="10417759" cy="365760"/>
          </a:xfrm>
          <a:prstGeom prst="rect">
            <a:avLst/>
          </a:prstGeom>
          <a:noFill/>
          <a:ln/>
        </p:spPr>
        <p:txBody>
          <a:bodyPr wrap="square" lIns="0" tIns="0" rIns="0" bIns="0" rtlCol="0" anchor="ctr"/>
          <a:lstStyle/>
          <a:p>
            <a:pPr indent="0" marL="0">
              <a:buNone/>
            </a:pPr>
            <a:r>
              <a:rPr lang="en-US" sz="1250" b="1" dirty="0">
                <a:solidFill>
                  <a:srgbClr val="1A1A1E"/>
                </a:solidFill>
                <a:latin typeface="Calibri" pitchFamily="34" charset="0"/>
                <a:ea typeface="Calibri" pitchFamily="34" charset="-122"/>
                <a:cs typeface="Calibri" pitchFamily="34" charset="-120"/>
              </a:rPr>
              <a:t>Connecteurs  </a:t>
            </a:r>
            <a:pPr indent="0" marL="0">
              <a:buNone/>
            </a:pPr>
            <a:r>
              <a:rPr lang="en-US" sz="1200" dirty="0">
                <a:solidFill>
                  <a:srgbClr val="5B6270"/>
                </a:solidFill>
                <a:latin typeface="Calibri" pitchFamily="34" charset="0"/>
                <a:ea typeface="Calibri" pitchFamily="34" charset="-122"/>
                <a:cs typeface="Calibri" pitchFamily="34" charset="-120"/>
              </a:rPr>
              <a:t>CSV - Excel operationnels  |  JSON - SQL - SharePoint en selecteurs (phase 2)</a:t>
            </a:r>
            <a:endParaRPr lang="en-US" sz="1250" dirty="0"/>
          </a:p>
        </p:txBody>
      </p:sp>
      <p:sp>
        <p:nvSpPr>
          <p:cNvPr id="22" name="Text 20"/>
          <p:cNvSpPr txBox="1"/>
          <p:nvPr/>
        </p:nvSpPr>
        <p:spPr>
          <a:xfrm>
            <a:off x="886968" y="4937760"/>
            <a:ext cx="10417759" cy="320040"/>
          </a:xfrm>
          <a:prstGeom prst="rect">
            <a:avLst/>
          </a:prstGeom>
          <a:noFill/>
          <a:ln/>
        </p:spPr>
        <p:txBody>
          <a:bodyPr wrap="square" lIns="0" tIns="0" rIns="0" bIns="0" rtlCol="0" anchor="ctr"/>
          <a:lstStyle/>
          <a:p>
            <a:pPr indent="0" marL="0">
              <a:buNone/>
            </a:pPr>
            <a:r>
              <a:rPr lang="en-US" sz="1100" i="1" dirty="0">
                <a:solidFill>
                  <a:srgbClr val="2F3C7E"/>
                </a:solidFill>
                <a:latin typeface="Calibri" pitchFamily="34" charset="0"/>
                <a:ea typeface="Calibri" pitchFamily="34" charset="-122"/>
                <a:cs typeface="Calibri" pitchFamily="34" charset="-120"/>
              </a:rPr>
              <a:t>Un nouvel EUC : 2 fichiers de configuration, aucun developpement.</a:t>
            </a:r>
            <a:endParaRPr lang="en-US" sz="1100" dirty="0"/>
          </a:p>
        </p:txBody>
      </p:sp>
      <p:sp>
        <p:nvSpPr>
          <p:cNvPr id="23" name="Text 21"/>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5B6270"/>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24" name="Text 22"/>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9E1B32"/>
                </a:solidFill>
                <a:latin typeface="Calibri" pitchFamily="34" charset="0"/>
                <a:ea typeface="Calibri" pitchFamily="34" charset="-122"/>
                <a:cs typeface="Calibri" pitchFamily="34" charset="-120"/>
              </a:rPr>
              <a:t>3 - LA SOLUTION</a:t>
            </a:r>
            <a:endParaRPr lang="en-US" sz="1200" dirty="0"/>
          </a:p>
        </p:txBody>
      </p:sp>
      <p:sp>
        <p:nvSpPr>
          <p:cNvPr id="3" name="Shape 1"/>
          <p:cNvSpPr/>
          <p:nvPr/>
        </p:nvSpPr>
        <p:spPr>
          <a:xfrm>
            <a:off x="566928" y="713232"/>
            <a:ext cx="548640" cy="548640"/>
          </a:xfrm>
          <a:prstGeom prst="ellipse">
            <a:avLst/>
          </a:prstGeom>
          <a:solidFill>
            <a:srgbClr val="9E1B32"/>
          </a:solidFill>
          <a:ln/>
        </p:spPr>
      </p:sp>
      <p:sp>
        <p:nvSpPr>
          <p:cNvPr id="4" name="Text 2"/>
          <p:cNvSpPr txBox="1"/>
          <p:nvPr/>
        </p:nvSpPr>
        <p:spPr>
          <a:xfrm>
            <a:off x="566928" y="713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txBox="1"/>
          <p:nvPr/>
        </p:nvSpPr>
        <p:spPr>
          <a:xfrm>
            <a:off x="1344168" y="676656"/>
            <a:ext cx="10280599" cy="685800"/>
          </a:xfrm>
          <a:prstGeom prst="rect">
            <a:avLst/>
          </a:prstGeom>
          <a:noFill/>
          <a:ln/>
        </p:spPr>
        <p:txBody>
          <a:bodyPr wrap="square" lIns="0" tIns="0" rIns="0" bIns="0" rtlCol="0" anchor="ctr"/>
          <a:lstStyle/>
          <a:p>
            <a:pPr indent="0" marL="0">
              <a:buNone/>
            </a:pPr>
            <a:r>
              <a:rPr lang="en-US" sz="2500" b="1" dirty="0">
                <a:solidFill>
                  <a:srgbClr val="1A1A1E"/>
                </a:solidFill>
                <a:latin typeface="Cambria" pitchFamily="34" charset="0"/>
                <a:ea typeface="Cambria" pitchFamily="34" charset="-122"/>
                <a:cs typeface="Cambria" pitchFamily="34" charset="-120"/>
              </a:rPr>
              <a:t>Le Catalogue - CRUD complet des regles</a:t>
            </a:r>
            <a:endParaRPr lang="en-US" sz="2500" dirty="0"/>
          </a:p>
        </p:txBody>
      </p:sp>
      <p:sp>
        <p:nvSpPr>
          <p:cNvPr id="6" name="Text 4"/>
          <p:cNvSpPr txBox="1"/>
          <p:nvPr/>
        </p:nvSpPr>
        <p:spPr>
          <a:xfrm>
            <a:off x="566928" y="1965960"/>
            <a:ext cx="6126480" cy="3931920"/>
          </a:xfrm>
          <a:prstGeom prst="rect">
            <a:avLst/>
          </a:prstGeom>
          <a:noFill/>
          <a:ln/>
        </p:spPr>
        <p:txBody>
          <a:bodyPr wrap="square" lIns="0" tIns="0" rIns="0" bIns="0" rtlCol="0" anchor="t"/>
          <a:lstStyle/>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Une regle = une ligne. L'application web offre un CRUD complet : creer, consulter, modifier, activer / desactiver, supprimer.</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Un meta-catalogue (~30 verifications) bloque toute regle invalide avant enregistrement.</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14 attributs (Annexe A.2), 6 types de controle, severite, seuil de tolerance, action corrective.</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Chaque operation est journalisee (journal chaine par hash) - une regle desactivee reste tracee, jamais perdue.</a:t>
            </a:r>
            <a:endParaRPr lang="en-US" sz="1350" dirty="0"/>
          </a:p>
        </p:txBody>
      </p:sp>
      <p:sp>
        <p:nvSpPr>
          <p:cNvPr id="7" name="Shape 5"/>
          <p:cNvSpPr/>
          <p:nvPr/>
        </p:nvSpPr>
        <p:spPr>
          <a:xfrm>
            <a:off x="7150608" y="1783080"/>
            <a:ext cx="4474159" cy="4160520"/>
          </a:xfrm>
          <a:prstGeom prst="roundRect">
            <a:avLst>
              <a:gd name="adj" fmla="val 1978"/>
            </a:avLst>
          </a:prstGeom>
          <a:solidFill>
            <a:srgbClr val="F4F5F7"/>
          </a:solidFill>
          <a:ln w="9525">
            <a:solidFill>
              <a:srgbClr val="D8DAE0"/>
            </a:solidFill>
            <a:prstDash val="solid"/>
          </a:ln>
          <a:effectLst>
            <a:outerShdw sx="100000" sy="100000" kx="0" ky="0" algn="bl" rotWithShape="0" blurRad="114300" dist="38100" dir="5400000">
              <a:srgbClr val="9A9A9A">
                <a:alpha val="28000"/>
              </a:srgbClr>
            </a:outerShdw>
          </a:effectLst>
        </p:spPr>
      </p:sp>
      <p:sp>
        <p:nvSpPr>
          <p:cNvPr id="8" name="Text 6"/>
          <p:cNvSpPr txBox="1"/>
          <p:nvPr/>
        </p:nvSpPr>
        <p:spPr>
          <a:xfrm>
            <a:off x="7443216" y="2011680"/>
            <a:ext cx="3888943" cy="329184"/>
          </a:xfrm>
          <a:prstGeom prst="rect">
            <a:avLst/>
          </a:prstGeom>
          <a:noFill/>
          <a:ln/>
        </p:spPr>
        <p:txBody>
          <a:bodyPr wrap="square" lIns="0" tIns="0" rIns="0" bIns="0" rtlCol="0" anchor="ctr"/>
          <a:lstStyle/>
          <a:p>
            <a:pPr indent="0" marL="0">
              <a:buNone/>
            </a:pPr>
            <a:r>
              <a:rPr lang="en-US" sz="1250" b="1" dirty="0">
                <a:solidFill>
                  <a:srgbClr val="9E1B32"/>
                </a:solidFill>
                <a:latin typeface="Cambria" pitchFamily="34" charset="0"/>
                <a:ea typeface="Cambria" pitchFamily="34" charset="-122"/>
                <a:cs typeface="Cambria" pitchFamily="34" charset="-120"/>
              </a:rPr>
              <a:t>CRUD depuis l'interface</a:t>
            </a:r>
            <a:endParaRPr lang="en-US" sz="1250" dirty="0"/>
          </a:p>
        </p:txBody>
      </p:sp>
      <p:sp>
        <p:nvSpPr>
          <p:cNvPr id="9" name="Shape 7"/>
          <p:cNvSpPr/>
          <p:nvPr/>
        </p:nvSpPr>
        <p:spPr>
          <a:xfrm>
            <a:off x="7443216" y="2468880"/>
            <a:ext cx="3888943" cy="457200"/>
          </a:xfrm>
          <a:prstGeom prst="roundRect">
            <a:avLst>
              <a:gd name="adj" fmla="val 10000"/>
            </a:avLst>
          </a:prstGeom>
          <a:solidFill>
            <a:srgbClr val="F4F5F7"/>
          </a:solidFill>
          <a:ln w="6350">
            <a:solidFill>
              <a:srgbClr val="D8DAE0"/>
            </a:solidFill>
            <a:prstDash val="solid"/>
          </a:ln>
        </p:spPr>
      </p:sp>
      <p:sp>
        <p:nvSpPr>
          <p:cNvPr id="10" name="Text 8"/>
          <p:cNvSpPr txBox="1"/>
          <p:nvPr/>
        </p:nvSpPr>
        <p:spPr>
          <a:xfrm>
            <a:off x="7552944" y="2468880"/>
            <a:ext cx="3669487" cy="45720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  Creer une regle</a:t>
            </a:r>
            <a:endParaRPr lang="en-US" sz="1050" dirty="0"/>
          </a:p>
        </p:txBody>
      </p:sp>
      <p:sp>
        <p:nvSpPr>
          <p:cNvPr id="11" name="Shape 9"/>
          <p:cNvSpPr/>
          <p:nvPr/>
        </p:nvSpPr>
        <p:spPr>
          <a:xfrm>
            <a:off x="7443216" y="3035808"/>
            <a:ext cx="3888943" cy="457200"/>
          </a:xfrm>
          <a:prstGeom prst="roundRect">
            <a:avLst>
              <a:gd name="adj" fmla="val 10000"/>
            </a:avLst>
          </a:prstGeom>
          <a:solidFill>
            <a:srgbClr val="F4F5F7"/>
          </a:solidFill>
          <a:ln w="6350">
            <a:solidFill>
              <a:srgbClr val="D8DAE0"/>
            </a:solidFill>
            <a:prstDash val="solid"/>
          </a:ln>
        </p:spPr>
      </p:sp>
      <p:sp>
        <p:nvSpPr>
          <p:cNvPr id="12" name="Text 10"/>
          <p:cNvSpPr txBox="1"/>
          <p:nvPr/>
        </p:nvSpPr>
        <p:spPr>
          <a:xfrm>
            <a:off x="7552944" y="3035808"/>
            <a:ext cx="3669487" cy="45720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  Consulter / rechercher</a:t>
            </a:r>
            <a:endParaRPr lang="en-US" sz="1050" dirty="0"/>
          </a:p>
        </p:txBody>
      </p:sp>
      <p:sp>
        <p:nvSpPr>
          <p:cNvPr id="13" name="Shape 11"/>
          <p:cNvSpPr/>
          <p:nvPr/>
        </p:nvSpPr>
        <p:spPr>
          <a:xfrm>
            <a:off x="7443216" y="3602736"/>
            <a:ext cx="3888943" cy="457200"/>
          </a:xfrm>
          <a:prstGeom prst="roundRect">
            <a:avLst>
              <a:gd name="adj" fmla="val 10000"/>
            </a:avLst>
          </a:prstGeom>
          <a:solidFill>
            <a:srgbClr val="F4F5F7"/>
          </a:solidFill>
          <a:ln w="6350">
            <a:solidFill>
              <a:srgbClr val="D8DAE0"/>
            </a:solidFill>
            <a:prstDash val="solid"/>
          </a:ln>
        </p:spPr>
      </p:sp>
      <p:sp>
        <p:nvSpPr>
          <p:cNvPr id="14" name="Text 12"/>
          <p:cNvSpPr txBox="1"/>
          <p:nvPr/>
        </p:nvSpPr>
        <p:spPr>
          <a:xfrm>
            <a:off x="7552944" y="3602736"/>
            <a:ext cx="3669487" cy="45720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  Modifier</a:t>
            </a:r>
            <a:endParaRPr lang="en-US" sz="1050" dirty="0"/>
          </a:p>
        </p:txBody>
      </p:sp>
      <p:sp>
        <p:nvSpPr>
          <p:cNvPr id="15" name="Shape 13"/>
          <p:cNvSpPr/>
          <p:nvPr/>
        </p:nvSpPr>
        <p:spPr>
          <a:xfrm>
            <a:off x="7443216" y="4169664"/>
            <a:ext cx="3888943" cy="457200"/>
          </a:xfrm>
          <a:prstGeom prst="roundRect">
            <a:avLst>
              <a:gd name="adj" fmla="val 10000"/>
            </a:avLst>
          </a:prstGeom>
          <a:solidFill>
            <a:srgbClr val="F4F5F7"/>
          </a:solidFill>
          <a:ln w="6350">
            <a:solidFill>
              <a:srgbClr val="D8DAE0"/>
            </a:solidFill>
            <a:prstDash val="solid"/>
          </a:ln>
        </p:spPr>
      </p:sp>
      <p:sp>
        <p:nvSpPr>
          <p:cNvPr id="16" name="Text 14"/>
          <p:cNvSpPr txBox="1"/>
          <p:nvPr/>
        </p:nvSpPr>
        <p:spPr>
          <a:xfrm>
            <a:off x="7552944" y="4169664"/>
            <a:ext cx="3669487" cy="45720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  Activer / desactiver</a:t>
            </a:r>
            <a:endParaRPr lang="en-US" sz="1050" dirty="0"/>
          </a:p>
        </p:txBody>
      </p:sp>
      <p:sp>
        <p:nvSpPr>
          <p:cNvPr id="17" name="Shape 15"/>
          <p:cNvSpPr/>
          <p:nvPr/>
        </p:nvSpPr>
        <p:spPr>
          <a:xfrm>
            <a:off x="7443216" y="4736592"/>
            <a:ext cx="3888943" cy="457200"/>
          </a:xfrm>
          <a:prstGeom prst="roundRect">
            <a:avLst>
              <a:gd name="adj" fmla="val 10000"/>
            </a:avLst>
          </a:prstGeom>
          <a:solidFill>
            <a:srgbClr val="F4F5F7"/>
          </a:solidFill>
          <a:ln w="6350">
            <a:solidFill>
              <a:srgbClr val="D8DAE0"/>
            </a:solidFill>
            <a:prstDash val="solid"/>
          </a:ln>
        </p:spPr>
      </p:sp>
      <p:sp>
        <p:nvSpPr>
          <p:cNvPr id="18" name="Text 16"/>
          <p:cNvSpPr txBox="1"/>
          <p:nvPr/>
        </p:nvSpPr>
        <p:spPr>
          <a:xfrm>
            <a:off x="7552944" y="4736592"/>
            <a:ext cx="3669487" cy="457200"/>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  Supprimer (trace)</a:t>
            </a:r>
            <a:endParaRPr lang="en-US" sz="1050" dirty="0"/>
          </a:p>
        </p:txBody>
      </p:sp>
      <p:sp>
        <p:nvSpPr>
          <p:cNvPr id="19" name="Text 17"/>
          <p:cNvSpPr txBox="1"/>
          <p:nvPr/>
        </p:nvSpPr>
        <p:spPr>
          <a:xfrm>
            <a:off x="7443216" y="5349240"/>
            <a:ext cx="3888943" cy="365760"/>
          </a:xfrm>
          <a:prstGeom prst="rect">
            <a:avLst/>
          </a:prstGeom>
          <a:noFill/>
          <a:ln/>
        </p:spPr>
        <p:txBody>
          <a:bodyPr wrap="square" lIns="0" tIns="0" rIns="0" bIns="0" rtlCol="0" anchor="ctr"/>
          <a:lstStyle/>
          <a:p>
            <a:pPr indent="0" marL="0">
              <a:buNone/>
            </a:pPr>
            <a:r>
              <a:rPr lang="en-US" sz="950" i="1" dirty="0">
                <a:solidFill>
                  <a:srgbClr val="5B6270"/>
                </a:solidFill>
                <a:latin typeface="Calibri" pitchFamily="34" charset="0"/>
                <a:ea typeface="Calibri" pitchFamily="34" charset="-122"/>
                <a:cs typeface="Calibri" pitchFamily="34" charset="-120"/>
              </a:rPr>
              <a:t>+ validation ~30 controles avant enregistrement</a:t>
            </a:r>
            <a:endParaRPr lang="en-US" sz="950" dirty="0"/>
          </a:p>
        </p:txBody>
      </p:sp>
      <p:sp>
        <p:nvSpPr>
          <p:cNvPr id="20" name="Text 18"/>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5B6270"/>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21" name="Text 19"/>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9E1B32"/>
                </a:solidFill>
                <a:latin typeface="Calibri" pitchFamily="34" charset="0"/>
                <a:ea typeface="Calibri" pitchFamily="34" charset="-122"/>
                <a:cs typeface="Calibri" pitchFamily="34" charset="-120"/>
              </a:rPr>
              <a:t>3 - LA SOLUTION</a:t>
            </a:r>
            <a:endParaRPr lang="en-US" sz="1200" dirty="0"/>
          </a:p>
        </p:txBody>
      </p:sp>
      <p:sp>
        <p:nvSpPr>
          <p:cNvPr id="3" name="Shape 1"/>
          <p:cNvSpPr/>
          <p:nvPr/>
        </p:nvSpPr>
        <p:spPr>
          <a:xfrm>
            <a:off x="566928" y="713232"/>
            <a:ext cx="548640" cy="548640"/>
          </a:xfrm>
          <a:prstGeom prst="ellipse">
            <a:avLst/>
          </a:prstGeom>
          <a:solidFill>
            <a:srgbClr val="9E1B32"/>
          </a:solidFill>
          <a:ln/>
        </p:spPr>
      </p:sp>
      <p:sp>
        <p:nvSpPr>
          <p:cNvPr id="4" name="Text 2"/>
          <p:cNvSpPr txBox="1"/>
          <p:nvPr/>
        </p:nvSpPr>
        <p:spPr>
          <a:xfrm>
            <a:off x="566928" y="713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5" name="Text 3"/>
          <p:cNvSpPr txBox="1"/>
          <p:nvPr/>
        </p:nvSpPr>
        <p:spPr>
          <a:xfrm>
            <a:off x="1344168" y="676656"/>
            <a:ext cx="10280599" cy="685800"/>
          </a:xfrm>
          <a:prstGeom prst="rect">
            <a:avLst/>
          </a:prstGeom>
          <a:noFill/>
          <a:ln/>
        </p:spPr>
        <p:txBody>
          <a:bodyPr wrap="square" lIns="0" tIns="0" rIns="0" bIns="0" rtlCol="0" anchor="ctr"/>
          <a:lstStyle/>
          <a:p>
            <a:pPr indent="0" marL="0">
              <a:buNone/>
            </a:pPr>
            <a:r>
              <a:rPr lang="en-US" sz="2500" b="1" dirty="0">
                <a:solidFill>
                  <a:srgbClr val="1A1A1E"/>
                </a:solidFill>
                <a:latin typeface="Cambria" pitchFamily="34" charset="0"/>
                <a:ea typeface="Cambria" pitchFamily="34" charset="-122"/>
                <a:cs typeface="Cambria" pitchFamily="34" charset="-120"/>
              </a:rPr>
              <a:t>Le Moteur d'execution</a:t>
            </a:r>
            <a:endParaRPr lang="en-US" sz="2500" dirty="0"/>
          </a:p>
        </p:txBody>
      </p:sp>
      <p:sp>
        <p:nvSpPr>
          <p:cNvPr id="6" name="Text 4"/>
          <p:cNvSpPr txBox="1"/>
          <p:nvPr/>
        </p:nvSpPr>
        <p:spPr>
          <a:xfrm>
            <a:off x="566928" y="1965960"/>
            <a:ext cx="6126480" cy="3931920"/>
          </a:xfrm>
          <a:prstGeom prst="rect">
            <a:avLst/>
          </a:prstGeom>
          <a:noFill/>
          <a:ln/>
        </p:spPr>
        <p:txBody>
          <a:bodyPr wrap="square" lIns="0" tIns="0" rIns="0" bIns="0" rtlCol="0" anchor="t"/>
          <a:lstStyle/>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Une fonction generique par dimension : elle ne connait que des noms de colonnes -- elle tourne sur n'importe quel dataset.</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Deterministe et reproductible : meme entree, meme resultat.</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Resilient : une source manquante devient un statut ERROR, l'execution continue.</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Seuils de tolerance : ex. &lt;= 1 % de lignes en anomalie = conforme.</a:t>
            </a:r>
            <a:endParaRPr lang="en-US" sz="1350" dirty="0"/>
          </a:p>
        </p:txBody>
      </p:sp>
      <p:sp>
        <p:nvSpPr>
          <p:cNvPr id="7" name="Shape 5"/>
          <p:cNvSpPr/>
          <p:nvPr/>
        </p:nvSpPr>
        <p:spPr>
          <a:xfrm>
            <a:off x="7150608" y="1783080"/>
            <a:ext cx="4474159" cy="4160520"/>
          </a:xfrm>
          <a:prstGeom prst="roundRect">
            <a:avLst>
              <a:gd name="adj" fmla="val 1978"/>
            </a:avLst>
          </a:prstGeom>
          <a:solidFill>
            <a:srgbClr val="F4F5F7"/>
          </a:solidFill>
          <a:ln w="9525">
            <a:solidFill>
              <a:srgbClr val="D8DAE0"/>
            </a:solidFill>
            <a:prstDash val="solid"/>
          </a:ln>
          <a:effectLst>
            <a:outerShdw sx="100000" sy="100000" kx="0" ky="0" algn="bl" rotWithShape="0" blurRad="114300" dist="38100" dir="5400000">
              <a:srgbClr val="9A9A9A">
                <a:alpha val="28000"/>
              </a:srgbClr>
            </a:outerShdw>
          </a:effectLst>
        </p:spPr>
      </p:sp>
      <p:sp>
        <p:nvSpPr>
          <p:cNvPr id="8" name="Text 6"/>
          <p:cNvSpPr txBox="1"/>
          <p:nvPr/>
        </p:nvSpPr>
        <p:spPr>
          <a:xfrm>
            <a:off x="7443216" y="2011680"/>
            <a:ext cx="3888943" cy="329184"/>
          </a:xfrm>
          <a:prstGeom prst="rect">
            <a:avLst/>
          </a:prstGeom>
          <a:noFill/>
          <a:ln/>
        </p:spPr>
        <p:txBody>
          <a:bodyPr wrap="square" lIns="0" tIns="0" rIns="0" bIns="0" rtlCol="0" anchor="ctr"/>
          <a:lstStyle/>
          <a:p>
            <a:pPr indent="0" marL="0">
              <a:buNone/>
            </a:pPr>
            <a:r>
              <a:rPr lang="en-US" sz="1250" b="1" dirty="0">
                <a:solidFill>
                  <a:srgbClr val="9E1B32"/>
                </a:solidFill>
                <a:latin typeface="Cambria" pitchFamily="34" charset="0"/>
                <a:ea typeface="Cambria" pitchFamily="34" charset="-122"/>
                <a:cs typeface="Cambria" pitchFamily="34" charset="-120"/>
              </a:rPr>
              <a:t>6 fonctions generiques</a:t>
            </a:r>
            <a:endParaRPr lang="en-US" sz="1250" dirty="0"/>
          </a:p>
        </p:txBody>
      </p:sp>
      <p:sp>
        <p:nvSpPr>
          <p:cNvPr id="9" name="Shape 7"/>
          <p:cNvSpPr/>
          <p:nvPr/>
        </p:nvSpPr>
        <p:spPr>
          <a:xfrm>
            <a:off x="7443216" y="2514600"/>
            <a:ext cx="1871320" cy="585216"/>
          </a:xfrm>
          <a:prstGeom prst="roundRect">
            <a:avLst>
              <a:gd name="adj" fmla="val 7813"/>
            </a:avLst>
          </a:prstGeom>
          <a:solidFill>
            <a:srgbClr val="F4F5F7"/>
          </a:solidFill>
          <a:ln w="6350">
            <a:solidFill>
              <a:srgbClr val="D8DAE0"/>
            </a:solidFill>
            <a:prstDash val="solid"/>
          </a:ln>
        </p:spPr>
      </p:sp>
      <p:sp>
        <p:nvSpPr>
          <p:cNvPr id="10" name="Text 8"/>
          <p:cNvSpPr txBox="1"/>
          <p:nvPr/>
        </p:nvSpPr>
        <p:spPr>
          <a:xfrm>
            <a:off x="7552944" y="2514600"/>
            <a:ext cx="1651864" cy="585216"/>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Completude</a:t>
            </a:r>
            <a:endParaRPr lang="en-US" sz="1050" dirty="0"/>
          </a:p>
        </p:txBody>
      </p:sp>
      <p:sp>
        <p:nvSpPr>
          <p:cNvPr id="11" name="Shape 9"/>
          <p:cNvSpPr/>
          <p:nvPr/>
        </p:nvSpPr>
        <p:spPr>
          <a:xfrm>
            <a:off x="9460840" y="2514600"/>
            <a:ext cx="1871320" cy="585216"/>
          </a:xfrm>
          <a:prstGeom prst="roundRect">
            <a:avLst>
              <a:gd name="adj" fmla="val 7813"/>
            </a:avLst>
          </a:prstGeom>
          <a:solidFill>
            <a:srgbClr val="F4F5F7"/>
          </a:solidFill>
          <a:ln w="6350">
            <a:solidFill>
              <a:srgbClr val="D8DAE0"/>
            </a:solidFill>
            <a:prstDash val="solid"/>
          </a:ln>
        </p:spPr>
      </p:sp>
      <p:sp>
        <p:nvSpPr>
          <p:cNvPr id="12" name="Text 10"/>
          <p:cNvSpPr txBox="1"/>
          <p:nvPr/>
        </p:nvSpPr>
        <p:spPr>
          <a:xfrm>
            <a:off x="9570568" y="2514600"/>
            <a:ext cx="1651864" cy="585216"/>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Validite</a:t>
            </a:r>
            <a:endParaRPr lang="en-US" sz="1050" dirty="0"/>
          </a:p>
        </p:txBody>
      </p:sp>
      <p:sp>
        <p:nvSpPr>
          <p:cNvPr id="13" name="Shape 11"/>
          <p:cNvSpPr/>
          <p:nvPr/>
        </p:nvSpPr>
        <p:spPr>
          <a:xfrm>
            <a:off x="7443216" y="3264408"/>
            <a:ext cx="1871320" cy="585216"/>
          </a:xfrm>
          <a:prstGeom prst="roundRect">
            <a:avLst>
              <a:gd name="adj" fmla="val 7813"/>
            </a:avLst>
          </a:prstGeom>
          <a:solidFill>
            <a:srgbClr val="F4F5F7"/>
          </a:solidFill>
          <a:ln w="6350">
            <a:solidFill>
              <a:srgbClr val="D8DAE0"/>
            </a:solidFill>
            <a:prstDash val="solid"/>
          </a:ln>
        </p:spPr>
      </p:sp>
      <p:sp>
        <p:nvSpPr>
          <p:cNvPr id="14" name="Text 12"/>
          <p:cNvSpPr txBox="1"/>
          <p:nvPr/>
        </p:nvSpPr>
        <p:spPr>
          <a:xfrm>
            <a:off x="7552944" y="3264408"/>
            <a:ext cx="1651864" cy="585216"/>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Unicite</a:t>
            </a:r>
            <a:endParaRPr lang="en-US" sz="1050" dirty="0"/>
          </a:p>
        </p:txBody>
      </p:sp>
      <p:sp>
        <p:nvSpPr>
          <p:cNvPr id="15" name="Shape 13"/>
          <p:cNvSpPr/>
          <p:nvPr/>
        </p:nvSpPr>
        <p:spPr>
          <a:xfrm>
            <a:off x="9460840" y="3264408"/>
            <a:ext cx="1871320" cy="585216"/>
          </a:xfrm>
          <a:prstGeom prst="roundRect">
            <a:avLst>
              <a:gd name="adj" fmla="val 7813"/>
            </a:avLst>
          </a:prstGeom>
          <a:solidFill>
            <a:srgbClr val="F4F5F7"/>
          </a:solidFill>
          <a:ln w="6350">
            <a:solidFill>
              <a:srgbClr val="D8DAE0"/>
            </a:solidFill>
            <a:prstDash val="solid"/>
          </a:ln>
        </p:spPr>
      </p:sp>
      <p:sp>
        <p:nvSpPr>
          <p:cNvPr id="16" name="Text 14"/>
          <p:cNvSpPr txBox="1"/>
          <p:nvPr/>
        </p:nvSpPr>
        <p:spPr>
          <a:xfrm>
            <a:off x="9570568" y="3264408"/>
            <a:ext cx="1651864" cy="585216"/>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Coherence</a:t>
            </a:r>
            <a:endParaRPr lang="en-US" sz="1050" dirty="0"/>
          </a:p>
        </p:txBody>
      </p:sp>
      <p:sp>
        <p:nvSpPr>
          <p:cNvPr id="17" name="Shape 15"/>
          <p:cNvSpPr/>
          <p:nvPr/>
        </p:nvSpPr>
        <p:spPr>
          <a:xfrm>
            <a:off x="7443216" y="4014216"/>
            <a:ext cx="1871320" cy="585216"/>
          </a:xfrm>
          <a:prstGeom prst="roundRect">
            <a:avLst>
              <a:gd name="adj" fmla="val 7813"/>
            </a:avLst>
          </a:prstGeom>
          <a:solidFill>
            <a:srgbClr val="F4F5F7"/>
          </a:solidFill>
          <a:ln w="6350">
            <a:solidFill>
              <a:srgbClr val="D8DAE0"/>
            </a:solidFill>
            <a:prstDash val="solid"/>
          </a:ln>
        </p:spPr>
      </p:sp>
      <p:sp>
        <p:nvSpPr>
          <p:cNvPr id="18" name="Text 16"/>
          <p:cNvSpPr txBox="1"/>
          <p:nvPr/>
        </p:nvSpPr>
        <p:spPr>
          <a:xfrm>
            <a:off x="7552944" y="4014216"/>
            <a:ext cx="1651864" cy="585216"/>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Fraicheur</a:t>
            </a:r>
            <a:endParaRPr lang="en-US" sz="1050" dirty="0"/>
          </a:p>
        </p:txBody>
      </p:sp>
      <p:sp>
        <p:nvSpPr>
          <p:cNvPr id="19" name="Shape 17"/>
          <p:cNvSpPr/>
          <p:nvPr/>
        </p:nvSpPr>
        <p:spPr>
          <a:xfrm>
            <a:off x="9460840" y="4014216"/>
            <a:ext cx="1871320" cy="585216"/>
          </a:xfrm>
          <a:prstGeom prst="roundRect">
            <a:avLst>
              <a:gd name="adj" fmla="val 7813"/>
            </a:avLst>
          </a:prstGeom>
          <a:solidFill>
            <a:srgbClr val="F4F5F7"/>
          </a:solidFill>
          <a:ln w="6350">
            <a:solidFill>
              <a:srgbClr val="D8DAE0"/>
            </a:solidFill>
            <a:prstDash val="solid"/>
          </a:ln>
        </p:spPr>
      </p:sp>
      <p:sp>
        <p:nvSpPr>
          <p:cNvPr id="20" name="Text 18"/>
          <p:cNvSpPr txBox="1"/>
          <p:nvPr/>
        </p:nvSpPr>
        <p:spPr>
          <a:xfrm>
            <a:off x="9570568" y="4014216"/>
            <a:ext cx="1651864" cy="585216"/>
          </a:xfrm>
          <a:prstGeom prst="rect">
            <a:avLst/>
          </a:prstGeom>
          <a:noFill/>
          <a:ln/>
        </p:spPr>
        <p:txBody>
          <a:bodyPr wrap="square" lIns="0" tIns="0" rIns="0" bIns="0" rtlCol="0" anchor="ctr"/>
          <a:lstStyle/>
          <a:p>
            <a:pPr indent="0" marL="0">
              <a:buNone/>
            </a:pPr>
            <a:r>
              <a:rPr lang="en-US" sz="1050" dirty="0">
                <a:solidFill>
                  <a:srgbClr val="1A1A1E"/>
                </a:solidFill>
                <a:latin typeface="Calibri" pitchFamily="34" charset="0"/>
                <a:ea typeface="Calibri" pitchFamily="34" charset="-122"/>
                <a:cs typeface="Calibri" pitchFamily="34" charset="-120"/>
              </a:rPr>
              <a:t>Rapprochement</a:t>
            </a:r>
            <a:endParaRPr lang="en-US" sz="1050" dirty="0"/>
          </a:p>
        </p:txBody>
      </p:sp>
      <p:sp>
        <p:nvSpPr>
          <p:cNvPr id="21" name="Text 19"/>
          <p:cNvSpPr txBox="1"/>
          <p:nvPr/>
        </p:nvSpPr>
        <p:spPr>
          <a:xfrm>
            <a:off x="7443216" y="4855464"/>
            <a:ext cx="3888943" cy="365760"/>
          </a:xfrm>
          <a:prstGeom prst="rect">
            <a:avLst/>
          </a:prstGeom>
          <a:noFill/>
          <a:ln/>
        </p:spPr>
        <p:txBody>
          <a:bodyPr wrap="square" lIns="0" tIns="0" rIns="0" bIns="0" rtlCol="0" anchor="ctr"/>
          <a:lstStyle/>
          <a:p>
            <a:pPr indent="0" marL="0">
              <a:buNone/>
            </a:pPr>
            <a:r>
              <a:rPr lang="en-US" sz="950" i="1" dirty="0">
                <a:solidFill>
                  <a:srgbClr val="5B6270"/>
                </a:solidFill>
                <a:latin typeface="Calibri" pitchFamily="34" charset="0"/>
                <a:ea typeface="Calibri" pitchFamily="34" charset="-122"/>
                <a:cs typeface="Calibri" pitchFamily="34" charset="-120"/>
              </a:rPr>
              <a:t>-&gt; chacune ne recoit que des noms de colonnes</a:t>
            </a:r>
            <a:endParaRPr lang="en-US" sz="950" dirty="0"/>
          </a:p>
        </p:txBody>
      </p:sp>
      <p:sp>
        <p:nvSpPr>
          <p:cNvPr id="22" name="Text 20"/>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5B6270"/>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23" name="Text 21"/>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9E1B32"/>
                </a:solidFill>
                <a:latin typeface="Calibri" pitchFamily="34" charset="0"/>
                <a:ea typeface="Calibri" pitchFamily="34" charset="-122"/>
                <a:cs typeface="Calibri" pitchFamily="34" charset="-120"/>
              </a:rPr>
              <a:t>3 - LA SOLUTION</a:t>
            </a:r>
            <a:endParaRPr lang="en-US" sz="1200" dirty="0"/>
          </a:p>
        </p:txBody>
      </p:sp>
      <p:sp>
        <p:nvSpPr>
          <p:cNvPr id="3" name="Shape 1"/>
          <p:cNvSpPr/>
          <p:nvPr/>
        </p:nvSpPr>
        <p:spPr>
          <a:xfrm>
            <a:off x="566928" y="713232"/>
            <a:ext cx="548640" cy="548640"/>
          </a:xfrm>
          <a:prstGeom prst="ellipse">
            <a:avLst/>
          </a:prstGeom>
          <a:solidFill>
            <a:srgbClr val="9E1B32"/>
          </a:solidFill>
          <a:ln/>
        </p:spPr>
      </p:sp>
      <p:sp>
        <p:nvSpPr>
          <p:cNvPr id="4" name="Text 2"/>
          <p:cNvSpPr txBox="1"/>
          <p:nvPr/>
        </p:nvSpPr>
        <p:spPr>
          <a:xfrm>
            <a:off x="566928" y="713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5" name="Text 3"/>
          <p:cNvSpPr txBox="1"/>
          <p:nvPr/>
        </p:nvSpPr>
        <p:spPr>
          <a:xfrm>
            <a:off x="1344168" y="676656"/>
            <a:ext cx="10280599" cy="685800"/>
          </a:xfrm>
          <a:prstGeom prst="rect">
            <a:avLst/>
          </a:prstGeom>
          <a:noFill/>
          <a:ln/>
        </p:spPr>
        <p:txBody>
          <a:bodyPr wrap="square" lIns="0" tIns="0" rIns="0" bIns="0" rtlCol="0" anchor="ctr"/>
          <a:lstStyle/>
          <a:p>
            <a:pPr indent="0" marL="0">
              <a:buNone/>
            </a:pPr>
            <a:r>
              <a:rPr lang="en-US" sz="2500" b="1" dirty="0">
                <a:solidFill>
                  <a:srgbClr val="1A1A1E"/>
                </a:solidFill>
                <a:latin typeface="Cambria" pitchFamily="34" charset="0"/>
                <a:ea typeface="Cambria" pitchFamily="34" charset="-122"/>
                <a:cs typeface="Cambria" pitchFamily="34" charset="-120"/>
              </a:rPr>
              <a:t>Le Reporting</a:t>
            </a:r>
            <a:endParaRPr lang="en-US" sz="2500" dirty="0"/>
          </a:p>
        </p:txBody>
      </p:sp>
      <p:sp>
        <p:nvSpPr>
          <p:cNvPr id="6" name="Text 4"/>
          <p:cNvSpPr txBox="1"/>
          <p:nvPr/>
        </p:nvSpPr>
        <p:spPr>
          <a:xfrm>
            <a:off x="566928" y="1965960"/>
            <a:ext cx="6126480" cy="3931920"/>
          </a:xfrm>
          <a:prstGeom prst="rect">
            <a:avLst/>
          </a:prstGeom>
          <a:noFill/>
          <a:ln/>
        </p:spPr>
        <p:txBody>
          <a:bodyPr wrap="square" lIns="0" tIns="0" rIns="0" bIns="0" rtlCol="0" anchor="t"/>
          <a:lstStyle/>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Deux publics via un filtre d'audience : le metier (risk / data owner) et le data engineer.</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Score DQ composite pondere par severite, tendance, sante par dataset, matrice de couverture.</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Incidents ouverts + action corrective ; exceptions par proprietaire et par dimension ; fiabilite des regles.</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Selecteur d'execution ; 7 exports CSV / JSON prets pour Power BI.</a:t>
            </a:r>
            <a:endParaRPr lang="en-US" sz="1350" dirty="0"/>
          </a:p>
        </p:txBody>
      </p:sp>
      <p:sp>
        <p:nvSpPr>
          <p:cNvPr id="7" name="Shape 5"/>
          <p:cNvSpPr/>
          <p:nvPr/>
        </p:nvSpPr>
        <p:spPr>
          <a:xfrm>
            <a:off x="7150608" y="1783080"/>
            <a:ext cx="4474159" cy="4160520"/>
          </a:xfrm>
          <a:prstGeom prst="roundRect">
            <a:avLst>
              <a:gd name="adj" fmla="val 1978"/>
            </a:avLst>
          </a:prstGeom>
          <a:solidFill>
            <a:srgbClr val="F4F5F7"/>
          </a:solidFill>
          <a:ln w="9525">
            <a:solidFill>
              <a:srgbClr val="D8DAE0"/>
            </a:solidFill>
            <a:prstDash val="solid"/>
          </a:ln>
          <a:effectLst>
            <a:outerShdw sx="100000" sy="100000" kx="0" ky="0" algn="bl" rotWithShape="0" blurRad="114300" dist="38100" dir="5400000">
              <a:srgbClr val="9A9A9A">
                <a:alpha val="28000"/>
              </a:srgbClr>
            </a:outerShdw>
          </a:effectLst>
        </p:spPr>
      </p:sp>
      <p:sp>
        <p:nvSpPr>
          <p:cNvPr id="8" name="Text 6"/>
          <p:cNvSpPr txBox="1"/>
          <p:nvPr/>
        </p:nvSpPr>
        <p:spPr>
          <a:xfrm>
            <a:off x="7443216" y="2011680"/>
            <a:ext cx="3888943" cy="329184"/>
          </a:xfrm>
          <a:prstGeom prst="rect">
            <a:avLst/>
          </a:prstGeom>
          <a:noFill/>
          <a:ln/>
        </p:spPr>
        <p:txBody>
          <a:bodyPr wrap="square" lIns="0" tIns="0" rIns="0" bIns="0" rtlCol="0" anchor="ctr"/>
          <a:lstStyle/>
          <a:p>
            <a:pPr indent="0" marL="0">
              <a:buNone/>
            </a:pPr>
            <a:r>
              <a:rPr lang="en-US" sz="1250" b="1" dirty="0">
                <a:solidFill>
                  <a:srgbClr val="9E1B32"/>
                </a:solidFill>
                <a:latin typeface="Cambria" pitchFamily="34" charset="0"/>
                <a:ea typeface="Cambria" pitchFamily="34" charset="-122"/>
                <a:cs typeface="Cambria" pitchFamily="34" charset="-120"/>
              </a:rPr>
              <a:t>En un coup d'oeil</a:t>
            </a:r>
            <a:endParaRPr lang="en-US" sz="1250" dirty="0"/>
          </a:p>
        </p:txBody>
      </p:sp>
      <p:sp>
        <p:nvSpPr>
          <p:cNvPr id="9" name="Shape 7"/>
          <p:cNvSpPr/>
          <p:nvPr/>
        </p:nvSpPr>
        <p:spPr>
          <a:xfrm>
            <a:off x="7443216" y="2468880"/>
            <a:ext cx="3888943" cy="950976"/>
          </a:xfrm>
          <a:prstGeom prst="roundRect">
            <a:avLst>
              <a:gd name="adj" fmla="val 5769"/>
            </a:avLst>
          </a:prstGeom>
          <a:solidFill>
            <a:srgbClr val="F4F5F7"/>
          </a:solidFill>
          <a:ln w="6350">
            <a:solidFill>
              <a:srgbClr val="D8DAE0"/>
            </a:solidFill>
            <a:prstDash val="solid"/>
          </a:ln>
        </p:spPr>
      </p:sp>
      <p:sp>
        <p:nvSpPr>
          <p:cNvPr id="10" name="Text 8"/>
          <p:cNvSpPr txBox="1"/>
          <p:nvPr/>
        </p:nvSpPr>
        <p:spPr>
          <a:xfrm>
            <a:off x="7626096" y="2523744"/>
            <a:ext cx="3523183" cy="457200"/>
          </a:xfrm>
          <a:prstGeom prst="rect">
            <a:avLst/>
          </a:prstGeom>
          <a:noFill/>
          <a:ln/>
        </p:spPr>
        <p:txBody>
          <a:bodyPr wrap="square" lIns="0" tIns="0" rIns="0" bIns="0" rtlCol="0" anchor="ctr"/>
          <a:lstStyle/>
          <a:p>
            <a:pPr indent="0" marL="0">
              <a:buNone/>
            </a:pPr>
            <a:r>
              <a:rPr lang="en-US" sz="1900" b="1" dirty="0">
                <a:solidFill>
                  <a:srgbClr val="9E1B32"/>
                </a:solidFill>
                <a:latin typeface="Cambria" pitchFamily="34" charset="0"/>
                <a:ea typeface="Cambria" pitchFamily="34" charset="-122"/>
                <a:cs typeface="Cambria" pitchFamily="34" charset="-120"/>
              </a:rPr>
              <a:t>87 / 100</a:t>
            </a:r>
            <a:endParaRPr lang="en-US" sz="1900" dirty="0"/>
          </a:p>
        </p:txBody>
      </p:sp>
      <p:sp>
        <p:nvSpPr>
          <p:cNvPr id="11" name="Text 9"/>
          <p:cNvSpPr txBox="1"/>
          <p:nvPr/>
        </p:nvSpPr>
        <p:spPr>
          <a:xfrm>
            <a:off x="7626096" y="2999232"/>
            <a:ext cx="3523183" cy="329184"/>
          </a:xfrm>
          <a:prstGeom prst="rect">
            <a:avLst/>
          </a:prstGeom>
          <a:noFill/>
          <a:ln/>
        </p:spPr>
        <p:txBody>
          <a:bodyPr wrap="square" lIns="0" tIns="0" rIns="0" bIns="0" rtlCol="0" anchor="ctr"/>
          <a:lstStyle/>
          <a:p>
            <a:pPr indent="0" marL="0">
              <a:buNone/>
            </a:pPr>
            <a:r>
              <a:rPr lang="en-US" sz="950" dirty="0">
                <a:solidFill>
                  <a:srgbClr val="5B6270"/>
                </a:solidFill>
                <a:latin typeface="Calibri" pitchFamily="34" charset="0"/>
                <a:ea typeface="Calibri" pitchFamily="34" charset="-122"/>
                <a:cs typeface="Calibri" pitchFamily="34" charset="-120"/>
              </a:rPr>
              <a:t>Score DQ composite</a:t>
            </a:r>
            <a:endParaRPr lang="en-US" sz="950" dirty="0"/>
          </a:p>
        </p:txBody>
      </p:sp>
      <p:sp>
        <p:nvSpPr>
          <p:cNvPr id="12" name="Shape 10"/>
          <p:cNvSpPr/>
          <p:nvPr/>
        </p:nvSpPr>
        <p:spPr>
          <a:xfrm>
            <a:off x="7443216" y="3566160"/>
            <a:ext cx="3888943" cy="950976"/>
          </a:xfrm>
          <a:prstGeom prst="roundRect">
            <a:avLst>
              <a:gd name="adj" fmla="val 5769"/>
            </a:avLst>
          </a:prstGeom>
          <a:solidFill>
            <a:srgbClr val="F4F5F7"/>
          </a:solidFill>
          <a:ln w="6350">
            <a:solidFill>
              <a:srgbClr val="D8DAE0"/>
            </a:solidFill>
            <a:prstDash val="solid"/>
          </a:ln>
        </p:spPr>
      </p:sp>
      <p:sp>
        <p:nvSpPr>
          <p:cNvPr id="13" name="Text 11"/>
          <p:cNvSpPr txBox="1"/>
          <p:nvPr/>
        </p:nvSpPr>
        <p:spPr>
          <a:xfrm>
            <a:off x="7626096" y="3621024"/>
            <a:ext cx="3523183" cy="457200"/>
          </a:xfrm>
          <a:prstGeom prst="rect">
            <a:avLst/>
          </a:prstGeom>
          <a:noFill/>
          <a:ln/>
        </p:spPr>
        <p:txBody>
          <a:bodyPr wrap="square" lIns="0" tIns="0" rIns="0" bIns="0" rtlCol="0" anchor="ctr"/>
          <a:lstStyle/>
          <a:p>
            <a:pPr indent="0" marL="0">
              <a:buNone/>
            </a:pPr>
            <a:r>
              <a:rPr lang="en-US" sz="1900" b="1" dirty="0">
                <a:solidFill>
                  <a:srgbClr val="9E1B32"/>
                </a:solidFill>
                <a:latin typeface="Cambria" pitchFamily="34" charset="0"/>
                <a:ea typeface="Cambria" pitchFamily="34" charset="-122"/>
                <a:cs typeface="Cambria" pitchFamily="34" charset="-120"/>
              </a:rPr>
              <a:t>8 / 14</a:t>
            </a:r>
            <a:endParaRPr lang="en-US" sz="1900" dirty="0"/>
          </a:p>
        </p:txBody>
      </p:sp>
      <p:sp>
        <p:nvSpPr>
          <p:cNvPr id="14" name="Text 12"/>
          <p:cNvSpPr txBox="1"/>
          <p:nvPr/>
        </p:nvSpPr>
        <p:spPr>
          <a:xfrm>
            <a:off x="7626096" y="4096512"/>
            <a:ext cx="3523183" cy="329184"/>
          </a:xfrm>
          <a:prstGeom prst="rect">
            <a:avLst/>
          </a:prstGeom>
          <a:noFill/>
          <a:ln/>
        </p:spPr>
        <p:txBody>
          <a:bodyPr wrap="square" lIns="0" tIns="0" rIns="0" bIns="0" rtlCol="0" anchor="ctr"/>
          <a:lstStyle/>
          <a:p>
            <a:pPr indent="0" marL="0">
              <a:buNone/>
            </a:pPr>
            <a:r>
              <a:rPr lang="en-US" sz="950" dirty="0">
                <a:solidFill>
                  <a:srgbClr val="5B6270"/>
                </a:solidFill>
                <a:latin typeface="Calibri" pitchFamily="34" charset="0"/>
                <a:ea typeface="Calibri" pitchFamily="34" charset="-122"/>
                <a:cs typeface="Calibri" pitchFamily="34" charset="-120"/>
              </a:rPr>
              <a:t>controles conformes</a:t>
            </a:r>
            <a:endParaRPr lang="en-US" sz="950" dirty="0"/>
          </a:p>
        </p:txBody>
      </p:sp>
      <p:sp>
        <p:nvSpPr>
          <p:cNvPr id="15" name="Shape 13"/>
          <p:cNvSpPr/>
          <p:nvPr/>
        </p:nvSpPr>
        <p:spPr>
          <a:xfrm>
            <a:off x="7443216" y="4663440"/>
            <a:ext cx="3888943" cy="950976"/>
          </a:xfrm>
          <a:prstGeom prst="roundRect">
            <a:avLst>
              <a:gd name="adj" fmla="val 5769"/>
            </a:avLst>
          </a:prstGeom>
          <a:solidFill>
            <a:srgbClr val="F4F5F7"/>
          </a:solidFill>
          <a:ln w="6350">
            <a:solidFill>
              <a:srgbClr val="D8DAE0"/>
            </a:solidFill>
            <a:prstDash val="solid"/>
          </a:ln>
        </p:spPr>
      </p:sp>
      <p:sp>
        <p:nvSpPr>
          <p:cNvPr id="16" name="Text 14"/>
          <p:cNvSpPr txBox="1"/>
          <p:nvPr/>
        </p:nvSpPr>
        <p:spPr>
          <a:xfrm>
            <a:off x="7626096" y="4718304"/>
            <a:ext cx="3523183" cy="457200"/>
          </a:xfrm>
          <a:prstGeom prst="rect">
            <a:avLst/>
          </a:prstGeom>
          <a:noFill/>
          <a:ln/>
        </p:spPr>
        <p:txBody>
          <a:bodyPr wrap="square" lIns="0" tIns="0" rIns="0" bIns="0" rtlCol="0" anchor="ctr"/>
          <a:lstStyle/>
          <a:p>
            <a:pPr indent="0" marL="0">
              <a:buNone/>
            </a:pPr>
            <a:r>
              <a:rPr lang="en-US" sz="1900" b="1" dirty="0">
                <a:solidFill>
                  <a:srgbClr val="9E1B32"/>
                </a:solidFill>
                <a:latin typeface="Cambria" pitchFamily="34" charset="0"/>
                <a:ea typeface="Cambria" pitchFamily="34" charset="-122"/>
                <a:cs typeface="Cambria" pitchFamily="34" charset="-120"/>
              </a:rPr>
              <a:t>4</a:t>
            </a:r>
            <a:endParaRPr lang="en-US" sz="1900" dirty="0"/>
          </a:p>
        </p:txBody>
      </p:sp>
      <p:sp>
        <p:nvSpPr>
          <p:cNvPr id="17" name="Text 15"/>
          <p:cNvSpPr txBox="1"/>
          <p:nvPr/>
        </p:nvSpPr>
        <p:spPr>
          <a:xfrm>
            <a:off x="7626096" y="5193792"/>
            <a:ext cx="3523183" cy="329184"/>
          </a:xfrm>
          <a:prstGeom prst="rect">
            <a:avLst/>
          </a:prstGeom>
          <a:noFill/>
          <a:ln/>
        </p:spPr>
        <p:txBody>
          <a:bodyPr wrap="square" lIns="0" tIns="0" rIns="0" bIns="0" rtlCol="0" anchor="ctr"/>
          <a:lstStyle/>
          <a:p>
            <a:pPr indent="0" marL="0">
              <a:buNone/>
            </a:pPr>
            <a:r>
              <a:rPr lang="en-US" sz="950" dirty="0">
                <a:solidFill>
                  <a:srgbClr val="5B6270"/>
                </a:solidFill>
                <a:latin typeface="Calibri" pitchFamily="34" charset="0"/>
                <a:ea typeface="Calibri" pitchFamily="34" charset="-122"/>
                <a:cs typeface="Calibri" pitchFamily="34" charset="-120"/>
              </a:rPr>
              <a:t>incidents critiques ouverts</a:t>
            </a:r>
            <a:endParaRPr lang="en-US" sz="950" dirty="0"/>
          </a:p>
        </p:txBody>
      </p:sp>
      <p:sp>
        <p:nvSpPr>
          <p:cNvPr id="18" name="Text 16"/>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5B6270"/>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19" name="Text 17"/>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9E1B32"/>
                </a:solidFill>
                <a:latin typeface="Calibri" pitchFamily="34" charset="0"/>
                <a:ea typeface="Calibri" pitchFamily="34" charset="-122"/>
                <a:cs typeface="Calibri" pitchFamily="34" charset="-120"/>
              </a:rPr>
              <a:t>3 - LA SOLUTION</a:t>
            </a:r>
            <a:endParaRPr lang="en-US" sz="1200" dirty="0"/>
          </a:p>
        </p:txBody>
      </p:sp>
      <p:sp>
        <p:nvSpPr>
          <p:cNvPr id="3" name="Shape 1"/>
          <p:cNvSpPr/>
          <p:nvPr/>
        </p:nvSpPr>
        <p:spPr>
          <a:xfrm>
            <a:off x="566928" y="713232"/>
            <a:ext cx="548640" cy="548640"/>
          </a:xfrm>
          <a:prstGeom prst="ellipse">
            <a:avLst/>
          </a:prstGeom>
          <a:solidFill>
            <a:srgbClr val="9E1B32"/>
          </a:solidFill>
          <a:ln/>
        </p:spPr>
      </p:sp>
      <p:sp>
        <p:nvSpPr>
          <p:cNvPr id="4" name="Text 2"/>
          <p:cNvSpPr txBox="1"/>
          <p:nvPr/>
        </p:nvSpPr>
        <p:spPr>
          <a:xfrm>
            <a:off x="566928" y="713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5" name="Text 3"/>
          <p:cNvSpPr txBox="1"/>
          <p:nvPr/>
        </p:nvSpPr>
        <p:spPr>
          <a:xfrm>
            <a:off x="1344168" y="676656"/>
            <a:ext cx="10280599" cy="685800"/>
          </a:xfrm>
          <a:prstGeom prst="rect">
            <a:avLst/>
          </a:prstGeom>
          <a:noFill/>
          <a:ln/>
        </p:spPr>
        <p:txBody>
          <a:bodyPr wrap="square" lIns="0" tIns="0" rIns="0" bIns="0" rtlCol="0" anchor="ctr"/>
          <a:lstStyle/>
          <a:p>
            <a:pPr indent="0" marL="0">
              <a:buNone/>
            </a:pPr>
            <a:r>
              <a:rPr lang="en-US" sz="2500" b="1" dirty="0">
                <a:solidFill>
                  <a:srgbClr val="1A1A1E"/>
                </a:solidFill>
                <a:latin typeface="Cambria" pitchFamily="34" charset="0"/>
                <a:ea typeface="Cambria" pitchFamily="34" charset="-122"/>
                <a:cs typeface="Cambria" pitchFamily="34" charset="-120"/>
              </a:rPr>
              <a:t>L'Audit - l'auditabilite</a:t>
            </a:r>
            <a:endParaRPr lang="en-US" sz="2500" dirty="0"/>
          </a:p>
        </p:txBody>
      </p:sp>
      <p:sp>
        <p:nvSpPr>
          <p:cNvPr id="6" name="Text 4"/>
          <p:cNvSpPr txBox="1"/>
          <p:nvPr/>
        </p:nvSpPr>
        <p:spPr>
          <a:xfrm>
            <a:off x="566928" y="1965960"/>
            <a:ext cx="6126480" cy="3931920"/>
          </a:xfrm>
          <a:prstGeom prst="rect">
            <a:avLst/>
          </a:prstGeom>
          <a:noFill/>
          <a:ln/>
        </p:spPr>
        <p:txBody>
          <a:bodyPr wrap="square" lIns="0" tIns="0" rIns="0" bIns="0" rtlCol="0" anchor="t"/>
          <a:lstStyle/>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Un Evidence Pack par execution : les 10 composants de l'Annexe B.2 (donnees figees + hash, config, metriques, exceptions, journaux, trace systeme, sign-off).</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Registre des executions chaine par hash : toute alteration d'un run passe devient visible.</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Verification independante Verify : rejoue la config figee sur les donnees figees (Annexe B.3).</a:t>
            </a:r>
            <a:endParaRPr lang="en-US" sz="1350" dirty="0"/>
          </a:p>
          <a:p>
            <a:pPr marL="152400" indent="-152400">
              <a:spcAft>
                <a:spcPts val="1000"/>
              </a:spcAft>
              <a:buSzPct val="100000"/>
              <a:buChar char="–"/>
            </a:pPr>
            <a:r>
              <a:rPr lang="en-US" sz="1350" dirty="0">
                <a:solidFill>
                  <a:srgbClr val="1A1A1E"/>
                </a:solidFill>
                <a:latin typeface="Calibri" pitchFamily="34" charset="0"/>
                <a:ea typeface="Calibri" pitchFamily="34" charset="-122"/>
                <a:cs typeface="Calibri" pitchFamily="34" charset="-120"/>
              </a:rPr>
              <a:t>Sign-off humain + 2 journaux de changements chaines : qui a change quoi, quand.</a:t>
            </a:r>
            <a:endParaRPr lang="en-US" sz="1350" dirty="0"/>
          </a:p>
        </p:txBody>
      </p:sp>
      <p:sp>
        <p:nvSpPr>
          <p:cNvPr id="7" name="Shape 5"/>
          <p:cNvSpPr/>
          <p:nvPr/>
        </p:nvSpPr>
        <p:spPr>
          <a:xfrm>
            <a:off x="7150608" y="1783080"/>
            <a:ext cx="4474159" cy="4160520"/>
          </a:xfrm>
          <a:prstGeom prst="roundRect">
            <a:avLst>
              <a:gd name="adj" fmla="val 1978"/>
            </a:avLst>
          </a:prstGeom>
          <a:solidFill>
            <a:srgbClr val="F4F5F7"/>
          </a:solidFill>
          <a:ln w="9525">
            <a:solidFill>
              <a:srgbClr val="D8DAE0"/>
            </a:solidFill>
            <a:prstDash val="solid"/>
          </a:ln>
          <a:effectLst>
            <a:outerShdw sx="100000" sy="100000" kx="0" ky="0" algn="bl" rotWithShape="0" blurRad="114300" dist="38100" dir="5400000">
              <a:srgbClr val="9A9A9A">
                <a:alpha val="28000"/>
              </a:srgbClr>
            </a:outerShdw>
          </a:effectLst>
        </p:spPr>
      </p:sp>
      <p:sp>
        <p:nvSpPr>
          <p:cNvPr id="8" name="Text 6"/>
          <p:cNvSpPr txBox="1"/>
          <p:nvPr/>
        </p:nvSpPr>
        <p:spPr>
          <a:xfrm>
            <a:off x="7443216" y="2011680"/>
            <a:ext cx="3888943" cy="329184"/>
          </a:xfrm>
          <a:prstGeom prst="rect">
            <a:avLst/>
          </a:prstGeom>
          <a:noFill/>
          <a:ln/>
        </p:spPr>
        <p:txBody>
          <a:bodyPr wrap="square" lIns="0" tIns="0" rIns="0" bIns="0" rtlCol="0" anchor="ctr"/>
          <a:lstStyle/>
          <a:p>
            <a:pPr indent="0" marL="0">
              <a:buNone/>
            </a:pPr>
            <a:r>
              <a:rPr lang="en-US" sz="1250" b="1" dirty="0">
                <a:solidFill>
                  <a:srgbClr val="9E1B32"/>
                </a:solidFill>
                <a:latin typeface="Cambria" pitchFamily="34" charset="0"/>
                <a:ea typeface="Cambria" pitchFamily="34" charset="-122"/>
                <a:cs typeface="Cambria" pitchFamily="34" charset="-120"/>
              </a:rPr>
              <a:t>Historique chaine par hash</a:t>
            </a:r>
            <a:endParaRPr lang="en-US" sz="1250" dirty="0"/>
          </a:p>
        </p:txBody>
      </p:sp>
      <p:sp>
        <p:nvSpPr>
          <p:cNvPr id="9" name="Shape 7"/>
          <p:cNvSpPr/>
          <p:nvPr/>
        </p:nvSpPr>
        <p:spPr>
          <a:xfrm>
            <a:off x="7443216" y="2606040"/>
            <a:ext cx="1113434" cy="640080"/>
          </a:xfrm>
          <a:prstGeom prst="roundRect">
            <a:avLst>
              <a:gd name="adj" fmla="val 7143"/>
            </a:avLst>
          </a:prstGeom>
          <a:solidFill>
            <a:srgbClr val="1A1A1E"/>
          </a:solidFill>
          <a:ln/>
        </p:spPr>
      </p:sp>
      <p:sp>
        <p:nvSpPr>
          <p:cNvPr id="10" name="Text 8"/>
          <p:cNvSpPr txBox="1"/>
          <p:nvPr/>
        </p:nvSpPr>
        <p:spPr>
          <a:xfrm>
            <a:off x="7443216" y="2606040"/>
            <a:ext cx="1113434"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Run 1</a:t>
            </a:r>
            <a:endParaRPr lang="en-US" sz="1000" dirty="0"/>
          </a:p>
        </p:txBody>
      </p:sp>
      <p:sp>
        <p:nvSpPr>
          <p:cNvPr id="11" name="Text 9"/>
          <p:cNvSpPr txBox="1"/>
          <p:nvPr/>
        </p:nvSpPr>
        <p:spPr>
          <a:xfrm>
            <a:off x="8556650" y="2606040"/>
            <a:ext cx="274320" cy="640080"/>
          </a:xfrm>
          <a:prstGeom prst="rect">
            <a:avLst/>
          </a:prstGeom>
          <a:noFill/>
          <a:ln/>
        </p:spPr>
        <p:txBody>
          <a:bodyPr wrap="square" lIns="0" tIns="0" rIns="0" bIns="0" rtlCol="0" anchor="ctr"/>
          <a:lstStyle/>
          <a:p>
            <a:pPr algn="ctr" indent="0" marL="0">
              <a:buNone/>
            </a:pPr>
            <a:r>
              <a:rPr lang="en-US" sz="1400" b="1" dirty="0">
                <a:solidFill>
                  <a:srgbClr val="5B6270"/>
                </a:solidFill>
                <a:latin typeface="Cambria" pitchFamily="34" charset="0"/>
                <a:ea typeface="Cambria" pitchFamily="34" charset="-122"/>
                <a:cs typeface="Cambria" pitchFamily="34" charset="-120"/>
              </a:rPr>
              <a:t>&gt;</a:t>
            </a:r>
            <a:endParaRPr lang="en-US" sz="1400" dirty="0"/>
          </a:p>
        </p:txBody>
      </p:sp>
      <p:sp>
        <p:nvSpPr>
          <p:cNvPr id="12" name="Shape 10"/>
          <p:cNvSpPr/>
          <p:nvPr/>
        </p:nvSpPr>
        <p:spPr>
          <a:xfrm>
            <a:off x="8830970" y="2606040"/>
            <a:ext cx="1113434" cy="640080"/>
          </a:xfrm>
          <a:prstGeom prst="roundRect">
            <a:avLst>
              <a:gd name="adj" fmla="val 7143"/>
            </a:avLst>
          </a:prstGeom>
          <a:solidFill>
            <a:srgbClr val="1A1A1E"/>
          </a:solidFill>
          <a:ln/>
        </p:spPr>
      </p:sp>
      <p:sp>
        <p:nvSpPr>
          <p:cNvPr id="13" name="Text 11"/>
          <p:cNvSpPr txBox="1"/>
          <p:nvPr/>
        </p:nvSpPr>
        <p:spPr>
          <a:xfrm>
            <a:off x="8830970" y="2606040"/>
            <a:ext cx="1113434"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Run 2</a:t>
            </a:r>
            <a:endParaRPr lang="en-US" sz="1000" dirty="0"/>
          </a:p>
        </p:txBody>
      </p:sp>
      <p:sp>
        <p:nvSpPr>
          <p:cNvPr id="14" name="Text 12"/>
          <p:cNvSpPr txBox="1"/>
          <p:nvPr/>
        </p:nvSpPr>
        <p:spPr>
          <a:xfrm>
            <a:off x="9944405" y="2606040"/>
            <a:ext cx="274320" cy="640080"/>
          </a:xfrm>
          <a:prstGeom prst="rect">
            <a:avLst/>
          </a:prstGeom>
          <a:noFill/>
          <a:ln/>
        </p:spPr>
        <p:txBody>
          <a:bodyPr wrap="square" lIns="0" tIns="0" rIns="0" bIns="0" rtlCol="0" anchor="ctr"/>
          <a:lstStyle/>
          <a:p>
            <a:pPr algn="ctr" indent="0" marL="0">
              <a:buNone/>
            </a:pPr>
            <a:r>
              <a:rPr lang="en-US" sz="1400" b="1" dirty="0">
                <a:solidFill>
                  <a:srgbClr val="5B6270"/>
                </a:solidFill>
                <a:latin typeface="Cambria" pitchFamily="34" charset="0"/>
                <a:ea typeface="Cambria" pitchFamily="34" charset="-122"/>
                <a:cs typeface="Cambria" pitchFamily="34" charset="-120"/>
              </a:rPr>
              <a:t>&gt;</a:t>
            </a:r>
            <a:endParaRPr lang="en-US" sz="1400" dirty="0"/>
          </a:p>
        </p:txBody>
      </p:sp>
      <p:sp>
        <p:nvSpPr>
          <p:cNvPr id="15" name="Shape 13"/>
          <p:cNvSpPr/>
          <p:nvPr/>
        </p:nvSpPr>
        <p:spPr>
          <a:xfrm>
            <a:off x="10218725" y="2606040"/>
            <a:ext cx="1113434" cy="640080"/>
          </a:xfrm>
          <a:prstGeom prst="roundRect">
            <a:avLst>
              <a:gd name="adj" fmla="val 7143"/>
            </a:avLst>
          </a:prstGeom>
          <a:solidFill>
            <a:srgbClr val="9E1B32"/>
          </a:solidFill>
          <a:ln/>
        </p:spPr>
      </p:sp>
      <p:sp>
        <p:nvSpPr>
          <p:cNvPr id="16" name="Text 14"/>
          <p:cNvSpPr txBox="1"/>
          <p:nvPr/>
        </p:nvSpPr>
        <p:spPr>
          <a:xfrm>
            <a:off x="10218725" y="2606040"/>
            <a:ext cx="1113434"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Run 3</a:t>
            </a:r>
            <a:endParaRPr lang="en-US" sz="1000" dirty="0"/>
          </a:p>
        </p:txBody>
      </p:sp>
      <p:sp>
        <p:nvSpPr>
          <p:cNvPr id="17" name="Text 15"/>
          <p:cNvSpPr txBox="1"/>
          <p:nvPr/>
        </p:nvSpPr>
        <p:spPr>
          <a:xfrm>
            <a:off x="7443216" y="3337560"/>
            <a:ext cx="3888943" cy="292608"/>
          </a:xfrm>
          <a:prstGeom prst="rect">
            <a:avLst/>
          </a:prstGeom>
          <a:noFill/>
          <a:ln/>
        </p:spPr>
        <p:txBody>
          <a:bodyPr wrap="square" lIns="0" tIns="0" rIns="0" bIns="0"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chaque run signe le precedent</a:t>
            </a:r>
            <a:endParaRPr lang="en-US" sz="900" dirty="0"/>
          </a:p>
        </p:txBody>
      </p:sp>
      <p:sp>
        <p:nvSpPr>
          <p:cNvPr id="18" name="Shape 16"/>
          <p:cNvSpPr/>
          <p:nvPr/>
        </p:nvSpPr>
        <p:spPr>
          <a:xfrm>
            <a:off x="7443216" y="3794760"/>
            <a:ext cx="3888943" cy="457200"/>
          </a:xfrm>
          <a:prstGeom prst="roundRect">
            <a:avLst>
              <a:gd name="adj" fmla="val 10000"/>
            </a:avLst>
          </a:prstGeom>
          <a:solidFill>
            <a:srgbClr val="F4F5F7"/>
          </a:solidFill>
          <a:ln w="6350">
            <a:solidFill>
              <a:srgbClr val="D8DAE0"/>
            </a:solidFill>
            <a:prstDash val="solid"/>
          </a:ln>
        </p:spPr>
      </p:sp>
      <p:sp>
        <p:nvSpPr>
          <p:cNvPr id="19" name="Text 17"/>
          <p:cNvSpPr txBox="1"/>
          <p:nvPr/>
        </p:nvSpPr>
        <p:spPr>
          <a:xfrm>
            <a:off x="7552944" y="3794760"/>
            <a:ext cx="3669487" cy="457200"/>
          </a:xfrm>
          <a:prstGeom prst="rect">
            <a:avLst/>
          </a:prstGeom>
          <a:noFill/>
          <a:ln/>
        </p:spPr>
        <p:txBody>
          <a:bodyPr wrap="square" lIns="0" tIns="0" rIns="0" bIns="0" rtlCol="0" anchor="ctr"/>
          <a:lstStyle/>
          <a:p>
            <a:pPr indent="0" marL="0">
              <a:buNone/>
            </a:pPr>
            <a:r>
              <a:rPr lang="en-US" sz="1000" dirty="0">
                <a:solidFill>
                  <a:srgbClr val="137A46"/>
                </a:solidFill>
                <a:latin typeface="Calibri" pitchFamily="34" charset="0"/>
                <a:ea typeface="Calibri" pitchFamily="34" charset="-122"/>
                <a:cs typeface="Calibri" pitchFamily="34" charset="-120"/>
              </a:rPr>
              <a:t>  Verify - 14 / 14 controles reproduits a l'identique</a:t>
            </a:r>
            <a:endParaRPr lang="en-US" sz="1000" dirty="0"/>
          </a:p>
        </p:txBody>
      </p:sp>
      <p:sp>
        <p:nvSpPr>
          <p:cNvPr id="20" name="Text 18"/>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5B6270"/>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21" name="Text 19"/>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92608"/>
          </a:xfrm>
          <a:prstGeom prst="rect">
            <a:avLst/>
          </a:prstGeom>
          <a:noFill/>
          <a:ln/>
        </p:spPr>
        <p:txBody>
          <a:bodyPr wrap="square" lIns="0" tIns="0" rIns="0" bIns="0" rtlCol="0" anchor="ctr"/>
          <a:lstStyle/>
          <a:p>
            <a:pPr indent="0" marL="0">
              <a:buNone/>
            </a:pPr>
            <a:r>
              <a:rPr lang="en-US" sz="1200" b="1" spc="200" kern="0" dirty="0">
                <a:solidFill>
                  <a:srgbClr val="C9A2AB"/>
                </a:solidFill>
                <a:latin typeface="Calibri" pitchFamily="34" charset="0"/>
                <a:ea typeface="Calibri" pitchFamily="34" charset="-122"/>
                <a:cs typeface="Calibri" pitchFamily="34" charset="-120"/>
              </a:rPr>
              <a:t>4 - PERSPECTIVES</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Passer a l'echelle - sans rien reecrire</a:t>
            </a:r>
            <a:endParaRPr lang="en-US" sz="2900" dirty="0"/>
          </a:p>
        </p:txBody>
      </p:sp>
      <p:sp>
        <p:nvSpPr>
          <p:cNvPr id="4" name="Shape 2"/>
          <p:cNvSpPr/>
          <p:nvPr/>
        </p:nvSpPr>
        <p:spPr>
          <a:xfrm>
            <a:off x="566928" y="1737360"/>
            <a:ext cx="5300320" cy="3108960"/>
          </a:xfrm>
          <a:prstGeom prst="roundRect">
            <a:avLst>
              <a:gd name="adj" fmla="val 2647"/>
            </a:avLst>
          </a:prstGeom>
          <a:solidFill>
            <a:srgbClr val="26262C"/>
          </a:solidFill>
          <a:ln w="9525">
            <a:solidFill>
              <a:srgbClr val="3A3A42"/>
            </a:solidFill>
            <a:prstDash val="solid"/>
          </a:ln>
        </p:spPr>
      </p:sp>
      <p:sp>
        <p:nvSpPr>
          <p:cNvPr id="5" name="Text 3"/>
          <p:cNvSpPr txBox="1"/>
          <p:nvPr/>
        </p:nvSpPr>
        <p:spPr>
          <a:xfrm>
            <a:off x="886968" y="1938528"/>
            <a:ext cx="4660240" cy="411480"/>
          </a:xfrm>
          <a:prstGeom prst="rect">
            <a:avLst/>
          </a:prstGeom>
          <a:noFill/>
          <a:ln/>
        </p:spPr>
        <p:txBody>
          <a:bodyPr wrap="square" lIns="0" tIns="0" rIns="0" bIns="0" rtlCol="0" anchor="ctr"/>
          <a:lstStyle/>
          <a:p>
            <a:pPr indent="0" marL="0">
              <a:buNone/>
            </a:pPr>
            <a:r>
              <a:rPr lang="en-US" sz="1500" b="1" dirty="0">
                <a:solidFill>
                  <a:srgbClr val="C9A2AB"/>
                </a:solidFill>
                <a:latin typeface="Cambria" pitchFamily="34" charset="0"/>
                <a:ea typeface="Cambria" pitchFamily="34" charset="-122"/>
                <a:cs typeface="Cambria" pitchFamily="34" charset="-120"/>
              </a:rPr>
              <a:t>A l'horizontale - plus d'EUC</a:t>
            </a:r>
            <a:endParaRPr lang="en-US" sz="1500" dirty="0"/>
          </a:p>
        </p:txBody>
      </p:sp>
      <p:sp>
        <p:nvSpPr>
          <p:cNvPr id="6" name="Text 4"/>
          <p:cNvSpPr txBox="1"/>
          <p:nvPr/>
        </p:nvSpPr>
        <p:spPr>
          <a:xfrm>
            <a:off x="886968" y="2423160"/>
            <a:ext cx="4660240" cy="2286000"/>
          </a:xfrm>
          <a:prstGeom prst="rect">
            <a:avLst/>
          </a:prstGeom>
          <a:noFill/>
          <a:ln/>
        </p:spPr>
        <p:txBody>
          <a:bodyPr wrap="square" lIns="0" tIns="0" rIns="0" bIns="0" rtlCol="0" anchor="t"/>
          <a:lstStyle/>
          <a:p>
            <a:pPr marL="152400" indent="-152400">
              <a:spcAft>
                <a:spcPts val="900"/>
              </a:spcAft>
              <a:buSzPct val="100000"/>
              <a:buChar char="–"/>
            </a:pPr>
            <a:r>
              <a:rPr lang="en-US" sz="1150" dirty="0">
                <a:solidFill>
                  <a:srgbClr val="E7E5E2"/>
                </a:solidFill>
                <a:latin typeface="Calibri" pitchFamily="34" charset="0"/>
                <a:ea typeface="Calibri" pitchFamily="34" charset="-122"/>
                <a:cs typeface="Calibri" pitchFamily="34" charset="-120"/>
              </a:rPr>
              <a:t>Un nouvel EUC = 2 fichiers de config + 1 appel.</a:t>
            </a:r>
            <a:endParaRPr lang="en-US" sz="1150" dirty="0"/>
          </a:p>
          <a:p>
            <a:pPr marL="152400" indent="-152400">
              <a:spcAft>
                <a:spcPts val="900"/>
              </a:spcAft>
              <a:buSzPct val="100000"/>
              <a:buChar char="–"/>
            </a:pPr>
            <a:r>
              <a:rPr lang="en-US" sz="1150" dirty="0">
                <a:solidFill>
                  <a:srgbClr val="E7E5E2"/>
                </a:solidFill>
                <a:latin typeface="Calibri" pitchFamily="34" charset="0"/>
                <a:ea typeface="Calibri" pitchFamily="34" charset="-122"/>
                <a:cs typeface="Calibri" pitchFamily="34" charset="-120"/>
              </a:rPr>
              <a:t>Catalogue central versionne, tire par chaque EUC.</a:t>
            </a:r>
            <a:endParaRPr lang="en-US" sz="1150" dirty="0"/>
          </a:p>
          <a:p>
            <a:pPr marL="152400" indent="-152400">
              <a:spcAft>
                <a:spcPts val="900"/>
              </a:spcAft>
              <a:buSzPct val="100000"/>
              <a:buChar char="–"/>
            </a:pPr>
            <a:r>
              <a:rPr lang="en-US" sz="1150" dirty="0">
                <a:solidFill>
                  <a:srgbClr val="E7E5E2"/>
                </a:solidFill>
                <a:latin typeface="Calibri" pitchFamily="34" charset="0"/>
                <a:ea typeface="Calibri" pitchFamily="34" charset="-122"/>
                <a:cs typeface="Calibri" pitchFamily="34" charset="-120"/>
              </a:rPr>
              <a:t>La CLI s'insere dans la CI (controle bloquant).</a:t>
            </a:r>
            <a:endParaRPr lang="en-US" sz="1150" dirty="0"/>
          </a:p>
        </p:txBody>
      </p:sp>
      <p:sp>
        <p:nvSpPr>
          <p:cNvPr id="7" name="Shape 5"/>
          <p:cNvSpPr/>
          <p:nvPr/>
        </p:nvSpPr>
        <p:spPr>
          <a:xfrm>
            <a:off x="6324448" y="1737360"/>
            <a:ext cx="5300320" cy="3108960"/>
          </a:xfrm>
          <a:prstGeom prst="roundRect">
            <a:avLst>
              <a:gd name="adj" fmla="val 2647"/>
            </a:avLst>
          </a:prstGeom>
          <a:solidFill>
            <a:srgbClr val="26262C"/>
          </a:solidFill>
          <a:ln w="9525">
            <a:solidFill>
              <a:srgbClr val="3A3A42"/>
            </a:solidFill>
            <a:prstDash val="solid"/>
          </a:ln>
        </p:spPr>
      </p:sp>
      <p:sp>
        <p:nvSpPr>
          <p:cNvPr id="8" name="Text 6"/>
          <p:cNvSpPr txBox="1"/>
          <p:nvPr/>
        </p:nvSpPr>
        <p:spPr>
          <a:xfrm>
            <a:off x="6644488" y="1938528"/>
            <a:ext cx="4660240" cy="411480"/>
          </a:xfrm>
          <a:prstGeom prst="rect">
            <a:avLst/>
          </a:prstGeom>
          <a:noFill/>
          <a:ln/>
        </p:spPr>
        <p:txBody>
          <a:bodyPr wrap="square" lIns="0" tIns="0" rIns="0" bIns="0" rtlCol="0" anchor="ctr"/>
          <a:lstStyle/>
          <a:p>
            <a:pPr indent="0" marL="0">
              <a:buNone/>
            </a:pPr>
            <a:r>
              <a:rPr lang="en-US" sz="1500" b="1" dirty="0">
                <a:solidFill>
                  <a:srgbClr val="C9A2AB"/>
                </a:solidFill>
                <a:latin typeface="Cambria" pitchFamily="34" charset="0"/>
                <a:ea typeface="Cambria" pitchFamily="34" charset="-122"/>
                <a:cs typeface="Cambria" pitchFamily="34" charset="-120"/>
              </a:rPr>
              <a:t>A la verticale - plus de volume</a:t>
            </a:r>
            <a:endParaRPr lang="en-US" sz="1500" dirty="0"/>
          </a:p>
        </p:txBody>
      </p:sp>
      <p:sp>
        <p:nvSpPr>
          <p:cNvPr id="9" name="Text 7"/>
          <p:cNvSpPr txBox="1"/>
          <p:nvPr/>
        </p:nvSpPr>
        <p:spPr>
          <a:xfrm>
            <a:off x="6644488" y="2423160"/>
            <a:ext cx="4660240" cy="2286000"/>
          </a:xfrm>
          <a:prstGeom prst="rect">
            <a:avLst/>
          </a:prstGeom>
          <a:noFill/>
          <a:ln/>
        </p:spPr>
        <p:txBody>
          <a:bodyPr wrap="square" lIns="0" tIns="0" rIns="0" bIns="0" rtlCol="0" anchor="t"/>
          <a:lstStyle/>
          <a:p>
            <a:pPr marL="152400" indent="-152400">
              <a:spcAft>
                <a:spcPts val="900"/>
              </a:spcAft>
              <a:buSzPct val="100000"/>
              <a:buChar char="–"/>
            </a:pPr>
            <a:r>
              <a:rPr lang="en-US" sz="1150" dirty="0">
                <a:solidFill>
                  <a:srgbClr val="E7E5E2"/>
                </a:solidFill>
                <a:latin typeface="Calibri" pitchFamily="34" charset="0"/>
                <a:ea typeface="Calibri" pitchFamily="34" charset="-122"/>
                <a:cs typeface="Calibri" pitchFamily="34" charset="-120"/>
              </a:rPr>
              <a:t>Les 6 fonctions ont un contrat fixe.</a:t>
            </a:r>
            <a:endParaRPr lang="en-US" sz="1150" dirty="0"/>
          </a:p>
          <a:p>
            <a:pPr marL="152400" indent="-152400">
              <a:spcAft>
                <a:spcPts val="900"/>
              </a:spcAft>
              <a:buSzPct val="100000"/>
              <a:buChar char="–"/>
            </a:pPr>
            <a:r>
              <a:rPr lang="en-US" sz="1150" dirty="0">
                <a:solidFill>
                  <a:srgbClr val="E7E5E2"/>
                </a:solidFill>
                <a:latin typeface="Calibri" pitchFamily="34" charset="0"/>
                <a:ea typeface="Calibri" pitchFamily="34" charset="-122"/>
                <a:cs typeface="Calibri" pitchFamily="34" charset="-120"/>
              </a:rPr>
              <a:t>On remplace pandas par DuckDB ou Spark SQL sans toucher au catalogue, a la preuve, ni a l'appli.</a:t>
            </a:r>
            <a:endParaRPr lang="en-US" sz="1150" dirty="0"/>
          </a:p>
          <a:p>
            <a:pPr marL="152400" indent="-152400">
              <a:spcAft>
                <a:spcPts val="900"/>
              </a:spcAft>
              <a:buSzPct val="100000"/>
              <a:buChar char="–"/>
            </a:pPr>
            <a:r>
              <a:rPr lang="en-US" sz="1150" dirty="0">
                <a:solidFill>
                  <a:srgbClr val="E7E5E2"/>
                </a:solidFill>
                <a:latin typeface="Calibri" pitchFamily="34" charset="0"/>
                <a:ea typeface="Calibri" pitchFamily="34" charset="-122"/>
                <a:cs typeface="Calibri" pitchFamily="34" charset="-120"/>
              </a:rPr>
              <a:t>Execution parallele, runs incrementaux.</a:t>
            </a:r>
            <a:endParaRPr lang="en-US" sz="1150" dirty="0"/>
          </a:p>
        </p:txBody>
      </p:sp>
      <p:sp>
        <p:nvSpPr>
          <p:cNvPr id="10" name="Shape 8"/>
          <p:cNvSpPr/>
          <p:nvPr/>
        </p:nvSpPr>
        <p:spPr>
          <a:xfrm>
            <a:off x="566928" y="5074920"/>
            <a:ext cx="11057839" cy="777240"/>
          </a:xfrm>
          <a:prstGeom prst="roundRect">
            <a:avLst>
              <a:gd name="adj" fmla="val 9412"/>
            </a:avLst>
          </a:prstGeom>
          <a:solidFill>
            <a:srgbClr val="9E1B32"/>
          </a:solidFill>
          <a:ln/>
        </p:spPr>
      </p:sp>
      <p:sp>
        <p:nvSpPr>
          <p:cNvPr id="11" name="Text 9"/>
          <p:cNvSpPr txBox="1"/>
          <p:nvPr/>
        </p:nvSpPr>
        <p:spPr>
          <a:xfrm>
            <a:off x="886968" y="5074920"/>
            <a:ext cx="10417759" cy="7772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MVP honnete : 3 connecteurs a finir, execution en memoire, preuve locale - le cycle de gouvernance, lui, est complet et prouve.</a:t>
            </a:r>
            <a:endParaRPr lang="en-US" sz="1200" dirty="0"/>
          </a:p>
        </p:txBody>
      </p:sp>
      <p:sp>
        <p:nvSpPr>
          <p:cNvPr id="12" name="Text 10"/>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8A8A93"/>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13" name="Text 11"/>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8A8A9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E"/>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Place a la demonstration</a:t>
            </a:r>
            <a:endParaRPr lang="en-US" sz="3400" dirty="0"/>
          </a:p>
        </p:txBody>
      </p:sp>
      <p:sp>
        <p:nvSpPr>
          <p:cNvPr id="3" name="Shape 1"/>
          <p:cNvSpPr/>
          <p:nvPr/>
        </p:nvSpPr>
        <p:spPr>
          <a:xfrm>
            <a:off x="566928" y="2560320"/>
            <a:ext cx="402336" cy="402336"/>
          </a:xfrm>
          <a:prstGeom prst="ellipse">
            <a:avLst/>
          </a:prstGeom>
          <a:solidFill>
            <a:srgbClr val="9E1B32"/>
          </a:solidFill>
          <a:ln/>
        </p:spPr>
      </p:sp>
      <p:sp>
        <p:nvSpPr>
          <p:cNvPr id="4" name="Text 2"/>
          <p:cNvSpPr txBox="1"/>
          <p:nvPr/>
        </p:nvSpPr>
        <p:spPr>
          <a:xfrm>
            <a:off x="566928" y="25603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txBox="1"/>
          <p:nvPr/>
        </p:nvSpPr>
        <p:spPr>
          <a:xfrm>
            <a:off x="1133856" y="2578608"/>
            <a:ext cx="10490911" cy="548640"/>
          </a:xfrm>
          <a:prstGeom prst="rect">
            <a:avLst/>
          </a:prstGeom>
          <a:noFill/>
          <a:ln/>
        </p:spPr>
        <p:txBody>
          <a:bodyPr wrap="square" lIns="0" tIns="0" rIns="0" bIns="0" rtlCol="0" anchor="ctr"/>
          <a:lstStyle/>
          <a:p>
            <a:pPr indent="0" marL="0">
              <a:buNone/>
            </a:pPr>
            <a:r>
              <a:rPr lang="en-US" sz="1300" dirty="0">
                <a:solidFill>
                  <a:srgbClr val="E7E5E2"/>
                </a:solidFill>
                <a:latin typeface="Calibri" pitchFamily="34" charset="0"/>
                <a:ea typeface="Calibri" pitchFamily="34" charset="-122"/>
                <a:cs typeface="Calibri" pitchFamily="34" charset="-120"/>
              </a:rPr>
              <a:t>Le Catalogue - creer et valider une regle (le meta-catalogue refuse une regle invalide).</a:t>
            </a:r>
            <a:endParaRPr lang="en-US" sz="1300" dirty="0"/>
          </a:p>
        </p:txBody>
      </p:sp>
      <p:sp>
        <p:nvSpPr>
          <p:cNvPr id="6" name="Shape 4"/>
          <p:cNvSpPr/>
          <p:nvPr/>
        </p:nvSpPr>
        <p:spPr>
          <a:xfrm>
            <a:off x="566928" y="3310128"/>
            <a:ext cx="402336" cy="402336"/>
          </a:xfrm>
          <a:prstGeom prst="ellipse">
            <a:avLst/>
          </a:prstGeom>
          <a:solidFill>
            <a:srgbClr val="9E1B32"/>
          </a:solidFill>
          <a:ln/>
        </p:spPr>
      </p:sp>
      <p:sp>
        <p:nvSpPr>
          <p:cNvPr id="7" name="Text 5"/>
          <p:cNvSpPr txBox="1"/>
          <p:nvPr/>
        </p:nvSpPr>
        <p:spPr>
          <a:xfrm>
            <a:off x="566928" y="33101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8" name="Text 6"/>
          <p:cNvSpPr txBox="1"/>
          <p:nvPr/>
        </p:nvSpPr>
        <p:spPr>
          <a:xfrm>
            <a:off x="1133856" y="3328416"/>
            <a:ext cx="10490911" cy="548640"/>
          </a:xfrm>
          <a:prstGeom prst="rect">
            <a:avLst/>
          </a:prstGeom>
          <a:noFill/>
          <a:ln/>
        </p:spPr>
        <p:txBody>
          <a:bodyPr wrap="square" lIns="0" tIns="0" rIns="0" bIns="0" rtlCol="0" anchor="ctr"/>
          <a:lstStyle/>
          <a:p>
            <a:pPr indent="0" marL="0">
              <a:buNone/>
            </a:pPr>
            <a:r>
              <a:rPr lang="en-US" sz="1300" dirty="0">
                <a:solidFill>
                  <a:srgbClr val="E7E5E2"/>
                </a:solidFill>
                <a:latin typeface="Calibri" pitchFamily="34" charset="0"/>
                <a:ea typeface="Calibri" pitchFamily="34" charset="-122"/>
                <a:cs typeface="Calibri" pitchFamily="34" charset="-120"/>
              </a:rPr>
              <a:t>Lancer une execution - le moteur applique tout le catalogue au dataset.</a:t>
            </a:r>
            <a:endParaRPr lang="en-US" sz="1300" dirty="0"/>
          </a:p>
        </p:txBody>
      </p:sp>
      <p:sp>
        <p:nvSpPr>
          <p:cNvPr id="9" name="Shape 7"/>
          <p:cNvSpPr/>
          <p:nvPr/>
        </p:nvSpPr>
        <p:spPr>
          <a:xfrm>
            <a:off x="566928" y="4059936"/>
            <a:ext cx="402336" cy="402336"/>
          </a:xfrm>
          <a:prstGeom prst="ellipse">
            <a:avLst/>
          </a:prstGeom>
          <a:solidFill>
            <a:srgbClr val="9E1B32"/>
          </a:solidFill>
          <a:ln/>
        </p:spPr>
      </p:sp>
      <p:sp>
        <p:nvSpPr>
          <p:cNvPr id="10" name="Text 8"/>
          <p:cNvSpPr txBox="1"/>
          <p:nvPr/>
        </p:nvSpPr>
        <p:spPr>
          <a:xfrm>
            <a:off x="566928" y="40599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1" name="Text 9"/>
          <p:cNvSpPr txBox="1"/>
          <p:nvPr/>
        </p:nvSpPr>
        <p:spPr>
          <a:xfrm>
            <a:off x="1133856" y="4078224"/>
            <a:ext cx="10490911" cy="548640"/>
          </a:xfrm>
          <a:prstGeom prst="rect">
            <a:avLst/>
          </a:prstGeom>
          <a:noFill/>
          <a:ln/>
        </p:spPr>
        <p:txBody>
          <a:bodyPr wrap="square" lIns="0" tIns="0" rIns="0" bIns="0" rtlCol="0" anchor="ctr"/>
          <a:lstStyle/>
          <a:p>
            <a:pPr indent="0" marL="0">
              <a:buNone/>
            </a:pPr>
            <a:r>
              <a:rPr lang="en-US" sz="1300" dirty="0">
                <a:solidFill>
                  <a:srgbClr val="E7E5E2"/>
                </a:solidFill>
                <a:latin typeface="Calibri" pitchFamily="34" charset="0"/>
                <a:ea typeface="Calibri" pitchFamily="34" charset="-122"/>
                <a:cs typeface="Calibri" pitchFamily="34" charset="-120"/>
              </a:rPr>
              <a:t>Le Reporting - ouvrir un incident : les lignes fautives et l'action corrective.</a:t>
            </a:r>
            <a:endParaRPr lang="en-US" sz="1300" dirty="0"/>
          </a:p>
        </p:txBody>
      </p:sp>
      <p:sp>
        <p:nvSpPr>
          <p:cNvPr id="12" name="Shape 10"/>
          <p:cNvSpPr/>
          <p:nvPr/>
        </p:nvSpPr>
        <p:spPr>
          <a:xfrm>
            <a:off x="566928" y="4809744"/>
            <a:ext cx="402336" cy="402336"/>
          </a:xfrm>
          <a:prstGeom prst="ellipse">
            <a:avLst/>
          </a:prstGeom>
          <a:solidFill>
            <a:srgbClr val="9E1B32"/>
          </a:solidFill>
          <a:ln/>
        </p:spPr>
      </p:sp>
      <p:sp>
        <p:nvSpPr>
          <p:cNvPr id="13" name="Text 11"/>
          <p:cNvSpPr txBox="1"/>
          <p:nvPr/>
        </p:nvSpPr>
        <p:spPr>
          <a:xfrm>
            <a:off x="566928" y="48097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4" name="Text 12"/>
          <p:cNvSpPr txBox="1"/>
          <p:nvPr/>
        </p:nvSpPr>
        <p:spPr>
          <a:xfrm>
            <a:off x="1133856" y="4828032"/>
            <a:ext cx="10490911" cy="548640"/>
          </a:xfrm>
          <a:prstGeom prst="rect">
            <a:avLst/>
          </a:prstGeom>
          <a:noFill/>
          <a:ln/>
        </p:spPr>
        <p:txBody>
          <a:bodyPr wrap="square" lIns="0" tIns="0" rIns="0" bIns="0" rtlCol="0" anchor="ctr"/>
          <a:lstStyle/>
          <a:p>
            <a:pPr indent="0" marL="0">
              <a:buNone/>
            </a:pPr>
            <a:r>
              <a:rPr lang="en-US" sz="1300" dirty="0">
                <a:solidFill>
                  <a:srgbClr val="E7E5E2"/>
                </a:solidFill>
                <a:latin typeface="Calibri" pitchFamily="34" charset="0"/>
                <a:ea typeface="Calibri" pitchFamily="34" charset="-122"/>
                <a:cs typeface="Calibri" pitchFamily="34" charset="-120"/>
              </a:rPr>
              <a:t>Un Evidence Pack - cliquer Verify : le run se rejoue a l'identique.</a:t>
            </a:r>
            <a:endParaRPr lang="en-US" sz="1300" dirty="0"/>
          </a:p>
        </p:txBody>
      </p:sp>
      <p:sp>
        <p:nvSpPr>
          <p:cNvPr id="15" name="Shape 13"/>
          <p:cNvSpPr/>
          <p:nvPr/>
        </p:nvSpPr>
        <p:spPr>
          <a:xfrm>
            <a:off x="566928" y="5559552"/>
            <a:ext cx="402336" cy="402336"/>
          </a:xfrm>
          <a:prstGeom prst="ellipse">
            <a:avLst/>
          </a:prstGeom>
          <a:solidFill>
            <a:srgbClr val="9E1B32"/>
          </a:solidFill>
          <a:ln/>
        </p:spPr>
      </p:sp>
      <p:sp>
        <p:nvSpPr>
          <p:cNvPr id="16" name="Text 14"/>
          <p:cNvSpPr txBox="1"/>
          <p:nvPr/>
        </p:nvSpPr>
        <p:spPr>
          <a:xfrm>
            <a:off x="566928" y="55595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7" name="Text 15"/>
          <p:cNvSpPr txBox="1"/>
          <p:nvPr/>
        </p:nvSpPr>
        <p:spPr>
          <a:xfrm>
            <a:off x="1133856" y="5577840"/>
            <a:ext cx="10490911" cy="548640"/>
          </a:xfrm>
          <a:prstGeom prst="rect">
            <a:avLst/>
          </a:prstGeom>
          <a:noFill/>
          <a:ln/>
        </p:spPr>
        <p:txBody>
          <a:bodyPr wrap="square" lIns="0" tIns="0" rIns="0" bIns="0" rtlCol="0" anchor="ctr"/>
          <a:lstStyle/>
          <a:p>
            <a:pPr indent="0" marL="0">
              <a:buNone/>
            </a:pPr>
            <a:r>
              <a:rPr lang="en-US" sz="1300" dirty="0">
                <a:solidFill>
                  <a:srgbClr val="E7E5E2"/>
                </a:solidFill>
                <a:latin typeface="Calibri" pitchFamily="34" charset="0"/>
                <a:ea typeface="Calibri" pitchFamily="34" charset="-122"/>
                <a:cs typeface="Calibri" pitchFamily="34" charset="-120"/>
              </a:rPr>
              <a:t>Le Mapping - chaque controle relie a une exigence BCBS 239 et au hash du run.</a:t>
            </a:r>
            <a:endParaRPr lang="en-US" sz="1300" dirty="0"/>
          </a:p>
        </p:txBody>
      </p:sp>
      <p:sp>
        <p:nvSpPr>
          <p:cNvPr id="18" name="Text 16"/>
          <p:cNvSpPr txBox="1"/>
          <p:nvPr/>
        </p:nvSpPr>
        <p:spPr>
          <a:xfrm>
            <a:off x="566928" y="6455664"/>
            <a:ext cx="8686800" cy="274320"/>
          </a:xfrm>
          <a:prstGeom prst="rect">
            <a:avLst/>
          </a:prstGeom>
          <a:noFill/>
          <a:ln/>
        </p:spPr>
        <p:txBody>
          <a:bodyPr wrap="square" lIns="0" tIns="0" rIns="0" bIns="0" rtlCol="0" anchor="ctr"/>
          <a:lstStyle/>
          <a:p>
            <a:pPr indent="0" marL="0">
              <a:buNone/>
            </a:pPr>
            <a:r>
              <a:rPr lang="en-US" sz="900" dirty="0">
                <a:solidFill>
                  <a:srgbClr val="8A8A93"/>
                </a:solidFill>
                <a:latin typeface="Calibri" pitchFamily="34" charset="0"/>
                <a:ea typeface="Calibri" pitchFamily="34" charset="-122"/>
                <a:cs typeface="Calibri" pitchFamily="34" charset="-120"/>
              </a:rPr>
              <a:t>DQ Compass  -  Groupe 1  -  Datathon MBA-ESG x SG GSC 2026</a:t>
            </a:r>
            <a:endParaRPr lang="en-US" sz="900" dirty="0"/>
          </a:p>
        </p:txBody>
      </p:sp>
      <p:sp>
        <p:nvSpPr>
          <p:cNvPr id="19" name="Text 17"/>
          <p:cNvSpPr txBox="1"/>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8A8A9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 Compass - 5 min</dc:title>
  <dc:subject>PptxGenJS Presentation</dc:subject>
  <dc:creator>Groupe 1</dc:creator>
  <cp:lastModifiedBy>Groupe 1</cp:lastModifiedBy>
  <cp:revision>1</cp:revision>
  <dcterms:created xsi:type="dcterms:W3CDTF">2026-09-08T15:04:36Z</dcterms:created>
  <dcterms:modified xsi:type="dcterms:W3CDTF">2026-09-08T15:04:36Z</dcterms:modified>
</cp:coreProperties>
</file>