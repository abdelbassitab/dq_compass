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Conformes</c:v>
                </c:pt>
              </c:strCache>
            </c:strRef>
          </c:tx>
          <c:spPr>
            <a:solidFill>
              <a:srgbClr val="137A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Run 1</c:v>
                  </c:pt>
                  <c:pt idx="1">
                    <c:v>Run 2</c:v>
                  </c:pt>
                  <c:pt idx="2">
                    <c:v>Run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8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écart</c:v>
                </c:pt>
              </c:strCache>
            </c:strRef>
          </c:tx>
          <c:spPr>
            <a:solidFill>
              <a:srgbClr val="9E1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Run 1</c:v>
                  </c:pt>
                  <c:pt idx="1">
                    <c:v>Run 2</c:v>
                  </c:pt>
                  <c:pt idx="2">
                    <c:v>Run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4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DQ Compass, par le Groupe 1. Le problème des EUC : des fichiers qui portent des processus critiques mais restent hors de toute gouvernance. Notre solution : une couche de contrôle qui se branche sur n'importe quel EUC sans écrire de code, et qui produit la preuve par défaut. Plan : la problématique, la solution partie par partie, un cas d'usage complet, la conformité au brief, puis les perspectives.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problème n'est pas technique, il est de gouvernance. Les EUC portent des processus sensibles mais échappent aux contrôles du SI. Le brief définit la cible : un cycle Définir – Exécuter – Restituer – Prouver, sur 6 dimensions de qualité, de façon frugale, déterministe et réutilisable.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L'idée centrale : une règle est une ligne de fichier, le moteur est générique. On ne développe pas un contrôle, on le configure. Quatre briques : le Catalogue définit, le Moteur exécute, le Reporting restitue, l'Audit prouve. Les connecteurs alimentent le moteur : CSV et Excel sont opérationnels, les autres sont câblés en sélecteurs.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Catalogue de contrôles. Une règle = une ligne de fichier. Une application web pour les créer, les modifier, les versionner. Un méta-catalogue (~30 vérifications) bloque toute règle invalide avant enregistrement. 6 types de contrôle, sévérité, propriétaire, seuil de tolérance, action corrective. Définition en SQL lisible par un auditeur, générée automatiquement.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Moteur d'exécution. Une fonction générique par dimension : elle ne connaît que des noms de colonnes. Tourne sur n'importe quel dataset, sans jamais y toucher. Déterministe et reproductible : même entrée → même résultat. Ne plante jamais : une source manquante devient un statut ERROR, l'exécution continue.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de données — plug &amp; play. Abstraction connecteur : CSV et Excel opérationnels ; JSON / SQL / SharePoint prêts en sélecteurs (phase 2). Ajouter une source = une ligne de configuration. Politique de suppression maîtrisée : retrait réversible (cascade sur les règles), purge, renommage (réaffecte les règles dépendantes).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Reporting. Un tableau de bord pour le métier et pour la data : score DQ composite pondéré par sévérité, tendance, santé par dataset, matrice de couverture. Incidents ouverts + action corrective ; exceptions par propriétaire et par dimension ; fiabilité des règles dans le temps. Sélecteur d'exécution ; 7 exports CSV / JSON prêts pour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L'Audit — l'auditabilité. Un Evidence Pack par exécution : les 10 composants de l'Annexe B.2 (données figées, config, métriques, exceptions, journaux, trace système…). Registre des exécutions chaîné par hash : toute altération d'un run passé devient visible. Vérification indépendante « Verify » : rejoue la configuration figée sur les données figées. Sign-off humain + 2 journaux de changements chaînés : qui a changé quoi, quand.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Mapping superviseur. Généré depuis le catalogue — jamais désynchronisé. Chaque contrôle → l'exigence BCBS 239 couverte → la preuve produite → le hash du run qui l'atteste. Répond à l'Annexe C (C.2 exigence→contrôle→preuve, C.3 traçabilité, C.4 principes).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montrer les 6 dimensions, on a chargé un vrai fichier EUC de la BIS. 14 règles : pour chaque dimension, une règle qui passe et une qui échoue, avec le volume d'anomalies réellement détecté. Cohérence et rapprochement s'appuient sur de petits fichiers de référence — parce qu'un contrôle de cohérence a besoin d'une deuxième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exécution produit tout : le score composite, la liste des contrôles conformes et en écart, les incidents critiques avec leur remédiation, et l'Evidence Pack. Le « Verify » rejoue la config figée sur les données figées et retrouve exactement les 14 résultats. Sur 3 exécutions on voit la reproductibilité et la trace de l'historique.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par point : chaque exigence du brief — les annexes A.2, B.2, B.3, C, les 6 dimensions, la contrainte de frugalité, le déterminisme — est adressée, et on peut montrer où. Plus 42 tests automatisés pour la robustesse.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 les quatre axes d'évaluation annoncés : qualité technique, maturité DQ, gouvernance et auditabilité, valeur métier — voici en une ligne ce que la solution apporte pour chacun.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Scalabilité. À l'horizontale, c'est déjà de la configuration : un EUC de plus, c'est deux fichiers. À la verticale, comme les six fonctions de contrôle ont un contrat fixe, on peut changer le moteur d'exécution — DuckDB, Spark SQL — sans toucher au reste. Rien dans le design ne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Soyons honnêtes : c'est un MVP. CSV et Excel marchent, trois connecteurs restent à finir ; l'exécution est en mémoire ; la preuve est en fichiers locaux. Mais le cycle de gouvernance — définir, exécuter, restituer, prouver — est complet et démontré. La suite, c'est du durcissement, à faible risque, parce que les interfaces sont déjà là. Merci.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4884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 Compass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3101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couche de contrôle Data Quality plug-and-play pour les EUC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   ·   Use case : « Building a Plug-and-Play Data Quality Control Layer for EUCs »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5074920"/>
            <a:ext cx="109728" cy="1097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5074920"/>
            <a:ext cx="109728" cy="1097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5074920"/>
            <a:ext cx="109728" cy="1097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Shape 6"/>
          <p:cNvSpPr/>
          <p:nvPr/>
        </p:nvSpPr>
        <p:spPr>
          <a:xfrm>
            <a:off x="1719072" y="5074920"/>
            <a:ext cx="109728" cy="1097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5074920"/>
            <a:ext cx="109728" cy="1097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5074920"/>
            <a:ext cx="109728" cy="1097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52852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DQ  ·  Définir → Exécuter → Restituer → Prouver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LA PROBLÉMATIQUE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EUC : partout dans les processus, invisibles pour la gouvernance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7007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processus critiques dans des fichiers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20299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Access, scripts : ils calculent, réconcilient, alimentent des reportings — mais vivent hors du SI et de ses contrôles.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761488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7249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réinvente ses contrôles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30540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Vérifications faites à la main, non standardisées, sans trace exploitable d'une fois sur l'autre.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785616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7490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régulateur veut des preuves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407822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BCBS 239 exige des contrôles tracés, reproductibles et auditables. Un classeur Excel ne sait pas le démontrer.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93408" y="1645920"/>
            <a:ext cx="4931359" cy="4023360"/>
          </a:xfrm>
          <a:prstGeom prst="roundRect">
            <a:avLst>
              <a:gd name="adj" fmla="val 2045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67728" y="1828800"/>
            <a:ext cx="43827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« bien » veut dire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67728" y="2331720"/>
            <a:ext cx="1033272" cy="420624"/>
          </a:xfrm>
          <a:prstGeom prst="roundRect">
            <a:avLst>
              <a:gd name="adj" fmla="val 13043"/>
            </a:avLst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67728" y="233172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46720" y="2331720"/>
            <a:ext cx="1033272" cy="420624"/>
          </a:xfrm>
          <a:prstGeom prst="roundRect">
            <a:avLst>
              <a:gd name="adj" fmla="val 13043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0" y="233172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25712" y="2331720"/>
            <a:ext cx="1033272" cy="420624"/>
          </a:xfrm>
          <a:prstGeom prst="roundRect">
            <a:avLst>
              <a:gd name="adj" fmla="val 13043"/>
            </a:avLst>
          </a:prstGeom>
          <a:solidFill>
            <a:srgbClr val="2F3C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25712" y="233172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204704" y="2331720"/>
            <a:ext cx="1033272" cy="420624"/>
          </a:xfrm>
          <a:prstGeom prst="roundRect">
            <a:avLst>
              <a:gd name="adj" fmla="val 13043"/>
            </a:avLst>
          </a:prstGeom>
          <a:solidFill>
            <a:srgbClr val="9E1B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04704" y="233172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Prouver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3063240"/>
            <a:ext cx="438271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: complétude, validité, unicité, cohérence, fraîcheur, rapprochement.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 (IA optionnelle), déterministe, reproductible.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Réutilisable : les mêmes contrôles pour tout dataset.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réponse : on configure, on ne code pas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sont des données. La preuve est produite par défaut.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6928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les règles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38144" y="22860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38144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38144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sur les données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0936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restitue l'état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80576" y="22860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9E1B32"/>
          </a:solidFill>
          <a:ln/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80576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la preuve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2697480"/>
            <a:ext cx="402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907024" y="2697480"/>
            <a:ext cx="402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2697480"/>
            <a:ext cx="402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66928" y="4251960"/>
            <a:ext cx="11057839" cy="1051560"/>
          </a:xfrm>
          <a:prstGeom prst="roundRect">
            <a:avLst>
              <a:gd name="adj" fmla="val 7826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86968" y="4480560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  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Excel opérationnels    ·    JSON · SQL · SharePoint prêts en sélecteurs (phase 2)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892040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nouvel EUC : 2 fichiers de configuration, aucun développement.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Catalogue de contrôles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règle = une ligne de fichier. Une application web pour les créer, les modifier, les versionner.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méta-catalogue (~30 vérifications) bloque toute règle invalide avant enregistrement.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contrôle, sévérité, propriétaire, seuil de tolérance, action corrective.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en SQL lisible par un auditeur, générée automatiquement.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règle = quelques champs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468880"/>
            <a:ext cx="3888943" cy="402336"/>
          </a:xfrm>
          <a:prstGeom prst="roundRect">
            <a:avLst>
              <a:gd name="adj" fmla="val 11364"/>
            </a:avLst>
          </a:prstGeom>
          <a:solidFill>
            <a:srgbClr val="1A1A1E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34656" y="2468880"/>
            <a:ext cx="37060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RULE-07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43216" y="2962656"/>
            <a:ext cx="3888943" cy="402336"/>
          </a:xfrm>
          <a:prstGeom prst="roundRect">
            <a:avLst>
              <a:gd name="adj" fmla="val 11364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34656" y="2962656"/>
            <a:ext cx="37060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Validité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43216" y="3456432"/>
            <a:ext cx="3888943" cy="402336"/>
          </a:xfrm>
          <a:prstGeom prst="roundRect">
            <a:avLst>
              <a:gd name="adj" fmla="val 11364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34656" y="3456432"/>
            <a:ext cx="37060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: commandes.statut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43216" y="3950208"/>
            <a:ext cx="3888943" cy="402336"/>
          </a:xfrm>
          <a:prstGeom prst="roundRect">
            <a:avLst>
              <a:gd name="adj" fmla="val 11364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34656" y="3950208"/>
            <a:ext cx="37060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Sévérité : High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43216" y="4443984"/>
            <a:ext cx="3888943" cy="402336"/>
          </a:xfrm>
          <a:prstGeom prst="roundRect">
            <a:avLst>
              <a:gd name="adj" fmla="val 11364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34656" y="4443984"/>
            <a:ext cx="37060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tolérance : 1 %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43216" y="4937760"/>
            <a:ext cx="3888943" cy="402336"/>
          </a:xfrm>
          <a:prstGeom prst="roundRect">
            <a:avLst>
              <a:gd name="adj" fmla="val 11364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34656" y="4937760"/>
            <a:ext cx="37060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prévenir le propriétaire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Moteur d'exécution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générique par dimension : elle ne connaît que des noms de colonnes.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Tourne sur n'importe quel dataset, sans jamais y toucher.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 et reproductible : même entrée → même résultat.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plante jamais : une source manquante devient un statut ERROR, l'exécution continue.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fonctions génériques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514600"/>
            <a:ext cx="187132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34656" y="2514600"/>
            <a:ext cx="168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460840" y="2514600"/>
            <a:ext cx="187132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52280" y="2514600"/>
            <a:ext cx="168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43216" y="3227832"/>
            <a:ext cx="187132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34656" y="3227832"/>
            <a:ext cx="168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60840" y="3227832"/>
            <a:ext cx="187132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52280" y="3227832"/>
            <a:ext cx="168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43216" y="3941064"/>
            <a:ext cx="187132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34656" y="3941064"/>
            <a:ext cx="168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Fraîcheur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60840" y="3941064"/>
            <a:ext cx="187132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52280" y="3941064"/>
            <a:ext cx="168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4745736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chacune ne reçoit que des noms de colonnes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de données — plug &amp; play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connecteur : CSV et Excel opérationnels ; JSON / SQL / SharePoint prêts en sélecteurs (phase 2).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source = une ligne de configuration.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suppression maîtrisée : retrait réversible (cascade sur les règles), purge, renommage (réaffecte les règles dépendantes).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types de source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569464"/>
            <a:ext cx="201168" cy="201168"/>
          </a:xfrm>
          <a:prstGeom prst="ellipse">
            <a:avLst/>
          </a:prstGeom>
          <a:solidFill>
            <a:srgbClr val="137A46"/>
          </a:solidFill>
          <a:ln w="12700">
            <a:solidFill>
              <a:srgbClr val="137A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2514600"/>
            <a:ext cx="26087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372039" y="25146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3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43216" y="3136392"/>
            <a:ext cx="201168" cy="201168"/>
          </a:xfrm>
          <a:prstGeom prst="ellipse">
            <a:avLst/>
          </a:prstGeom>
          <a:solidFill>
            <a:srgbClr val="137A46"/>
          </a:solidFill>
          <a:ln w="12700">
            <a:solidFill>
              <a:srgbClr val="137A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3081528"/>
            <a:ext cx="26087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372039" y="30815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3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43216" y="37033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0A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3648456"/>
            <a:ext cx="26087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372039" y="364845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43216" y="427024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0A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215384"/>
            <a:ext cx="26087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(base de données)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372039" y="42153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43216" y="483717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0A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4782312"/>
            <a:ext cx="26087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 Drive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372039" y="47823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Reporting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 pour le métier et pour la data : score DQ composite pondéré par sévérité, tendance, santé par dataset, matrice de couverture.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ouverts + action corrective ; exceptions par propriétaire et par dimension ; fiabilité des règles dans le temps.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 d'exécution ; 7 exports CSV / JSON prêts pour Power BI.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coup d'œil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468880"/>
            <a:ext cx="3888943" cy="932688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26096" y="2523744"/>
            <a:ext cx="3523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/ 100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626096" y="2999232"/>
            <a:ext cx="3523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DQ composite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43216" y="3547872"/>
            <a:ext cx="3888943" cy="932688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26096" y="3602736"/>
            <a:ext cx="3523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626096" y="4078224"/>
            <a:ext cx="3523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conformes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43216" y="4626864"/>
            <a:ext cx="3888943" cy="932688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26096" y="4681728"/>
            <a:ext cx="3523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626096" y="5157216"/>
            <a:ext cx="3523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critiques ouverts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L'Audit — l'auditabilité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Evidence Pack par exécution : les 10 composants de l'Annexe B.2 (données figées, config, métriques, exceptions, journaux, trace système…).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exécutions chaîné par hash : toute altération d'un run passé devient visible.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indépendante « Verify » : rejoue la configuration figée sur les données figées.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humain + 2 journaux de changements chaînés : qui a changé quoi, quand.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chaîné par hash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606040"/>
            <a:ext cx="1113434" cy="640080"/>
          </a:xfrm>
          <a:prstGeom prst="roundRect">
            <a:avLst>
              <a:gd name="adj" fmla="val 7143"/>
            </a:avLst>
          </a:prstGeom>
          <a:solidFill>
            <a:srgbClr val="1A1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43216" y="2606040"/>
            <a:ext cx="11134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56650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0970" y="2606040"/>
            <a:ext cx="1113434" cy="640080"/>
          </a:xfrm>
          <a:prstGeom prst="roundRect">
            <a:avLst>
              <a:gd name="adj" fmla="val 7143"/>
            </a:avLst>
          </a:prstGeom>
          <a:solidFill>
            <a:srgbClr val="1A1A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830970" y="2606040"/>
            <a:ext cx="11134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944405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18725" y="2606040"/>
            <a:ext cx="1113434" cy="640080"/>
          </a:xfrm>
          <a:prstGeom prst="roundRect">
            <a:avLst>
              <a:gd name="adj" fmla="val 7143"/>
            </a:avLst>
          </a:prstGeom>
          <a:solidFill>
            <a:srgbClr val="9E1B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18725" y="2606040"/>
            <a:ext cx="11134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43216" y="3337560"/>
            <a:ext cx="3888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run signe le précédent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43216" y="3794760"/>
            <a:ext cx="3888943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4656" y="3794760"/>
            <a:ext cx="3706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« Verify » — 14 / 14 contrôles reproduits à l'identique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Mapping superviseur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depuis le catalogue — jamais désynchronisé.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contrôle → l'exigence BCBS 239 couverte → la preuve produite → le hash du run qui l'atteste.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à l'Annexe C (C.2 exigence→contrôle→preuve, C.3 traçabilité, C.4 principes).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Chaîne de traçabilité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514600"/>
            <a:ext cx="3888943" cy="548640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34656" y="2514600"/>
            <a:ext cx="37060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Contrôle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43216" y="3044952"/>
            <a:ext cx="38889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43216" y="3355848"/>
            <a:ext cx="3888943" cy="548640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34656" y="3355848"/>
            <a:ext cx="37060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Exigence BCBS 239 couverte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43216" y="3886200"/>
            <a:ext cx="38889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43216" y="4197096"/>
            <a:ext cx="3888943" cy="548640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34656" y="4197096"/>
            <a:ext cx="37060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Preuve produite (Evidence Pack)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43216" y="4727448"/>
            <a:ext cx="38889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43216" y="5038344"/>
            <a:ext cx="3888943" cy="548640"/>
          </a:xfrm>
          <a:prstGeom prst="roundRect">
            <a:avLst>
              <a:gd name="adj" fmla="val 8333"/>
            </a:avLst>
          </a:prstGeom>
          <a:solidFill>
            <a:srgbClr val="1A1A1E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4656" y="5038344"/>
            <a:ext cx="37060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Hash du run qui l'atteste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CAS D'USAGE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fichier EUC réel, 14 règles, chaque dimension couverte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BIS « OTC derivatives turnover »  </a:t>
            </a:r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~78 000 lignes, 73 colonnes.   14 règles : deux par dimension, une conçue pour passer, une pour échouer.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7839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97680"/>
                <a:gridCol w="48737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 conforme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 en écart (volume détecté)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Complétude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 de risque toujours renseignée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 « 2013 » vide à 23 %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pays de contrepartie connu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secteur hors référentiel — 2 lignes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Identifiant de série unique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Combinaison de dimensions non unique — 27 290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Cohérence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Secteur présent au référentiel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pays « 5Z » absent du référentiel — 8 997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Fraîcheur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daté à moins de 10 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flux pays datant de plus de 7 jours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Rapprochement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 EUC = grand livre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livre stressé — 3 écarts + 1 deal manquant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CAS D'USAGE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exécution — et tout est produit, et vérifié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455850" cy="1691640"/>
          </a:xfrm>
          <a:prstGeom prst="roundRect">
            <a:avLst>
              <a:gd name="adj" fmla="val 4865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737360"/>
            <a:ext cx="24558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/ 100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95728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DQ composite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(pondéré par sévérité)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34258" y="1600200"/>
            <a:ext cx="2455850" cy="1691640"/>
          </a:xfrm>
          <a:prstGeom prst="roundRect">
            <a:avLst>
              <a:gd name="adj" fmla="val 4865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34258" y="1737360"/>
            <a:ext cx="24558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14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43986" y="2395728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conformes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1588" y="1600200"/>
            <a:ext cx="2455850" cy="1691640"/>
          </a:xfrm>
          <a:prstGeom prst="roundRect">
            <a:avLst>
              <a:gd name="adj" fmla="val 4865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1588" y="1737360"/>
            <a:ext cx="24558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11316" y="2395728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critiques ouverts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 corrective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68917" y="1600200"/>
            <a:ext cx="2455850" cy="1691640"/>
          </a:xfrm>
          <a:prstGeom prst="roundRect">
            <a:avLst>
              <a:gd name="adj" fmla="val 4865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68917" y="1737360"/>
            <a:ext cx="24558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78645" y="2395728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reproduits 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l'identique par « Verify »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6118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Conformes vs en écart — 3 exécutions chaînées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66928" y="3931920"/>
          <a:ext cx="67665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7790688" y="3931920"/>
            <a:ext cx="3834079" cy="2286000"/>
          </a:xfrm>
          <a:prstGeom prst="roundRect">
            <a:avLst>
              <a:gd name="adj" fmla="val 3600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110728" y="4160520"/>
            <a:ext cx="323971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+ Evidence Pack + mapping superviseur générés en un seul passage.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runs chaînés par hash : l'historique est inviolable.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catalogue a changé entre les runs — c'est visible dans le registre.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CONFORMITÉ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brief demande — et où nous le livrons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292608" cy="292608"/>
          </a:xfrm>
          <a:prstGeom prst="ellipse">
            <a:avLst/>
          </a:prstGeom>
          <a:solidFill>
            <a:srgbClr val="137A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645920"/>
            <a:ext cx="487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A.2 — 14 attributs de règle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965960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au schéma canonique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24448" y="1719072"/>
            <a:ext cx="292608" cy="292608"/>
          </a:xfrm>
          <a:prstGeom prst="ellipse">
            <a:avLst/>
          </a:prstGeom>
          <a:solidFill>
            <a:srgbClr val="137A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4448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45072" y="1645920"/>
            <a:ext cx="487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B.2 — 10 composants de preuve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45072" y="1965960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 par exécution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798064"/>
            <a:ext cx="292608" cy="292608"/>
          </a:xfrm>
          <a:prstGeom prst="ellipse">
            <a:avLst/>
          </a:prstGeom>
          <a:solidFill>
            <a:srgbClr val="137A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724912"/>
            <a:ext cx="487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B.3 — vérification indépendante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044952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Verify this run 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4448" y="2798064"/>
            <a:ext cx="292608" cy="292608"/>
          </a:xfrm>
          <a:prstGeom prst="ellipse">
            <a:avLst/>
          </a:prstGeom>
          <a:solidFill>
            <a:srgbClr val="137A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2444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45072" y="2724912"/>
            <a:ext cx="487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C — mapping superviseur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45072" y="3044952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depuis le catalogue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877056"/>
            <a:ext cx="292608" cy="292608"/>
          </a:xfrm>
          <a:prstGeom prst="ellipse">
            <a:avLst/>
          </a:prstGeom>
          <a:solidFill>
            <a:srgbClr val="137A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3803904"/>
            <a:ext cx="487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de qualité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4123944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sur 6 couvertes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4448" y="3877056"/>
            <a:ext cx="292608" cy="292608"/>
          </a:xfrm>
          <a:prstGeom prst="ellipse">
            <a:avLst/>
          </a:prstGeom>
          <a:solidFill>
            <a:srgbClr val="137A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2444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45072" y="3803904"/>
            <a:ext cx="487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Frugal, IA optionnelle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45072" y="4123944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dépendance IA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956048"/>
            <a:ext cx="292608" cy="292608"/>
          </a:xfrm>
          <a:prstGeom prst="ellipse">
            <a:avLst/>
          </a:prstGeom>
          <a:solidFill>
            <a:srgbClr val="137A4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6928" y="4956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4882896"/>
            <a:ext cx="487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 &amp; reproductible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5202936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Prouvé (tests + Verify)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24448" y="4956048"/>
            <a:ext cx="292608" cy="292608"/>
          </a:xfrm>
          <a:prstGeom prst="ellipse">
            <a:avLst/>
          </a:prstGeom>
          <a:solidFill>
            <a:srgbClr val="137A4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24448" y="4956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745072" y="4882896"/>
            <a:ext cx="487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logicielle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45072" y="5202936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tests automatisés, code nettoyé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VALORISATION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quatre axes d'évaluation — notre réponse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00320" cy="1965960"/>
          </a:xfrm>
          <a:prstGeom prst="roundRect">
            <a:avLst>
              <a:gd name="adj" fmla="val 4186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365760" cy="3657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975104"/>
            <a:ext cx="429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technique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514600"/>
            <a:ext cx="471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générique, exécution reproductible, résilient aux pannes de source, 42 tests automatisés.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300320" cy="1965960"/>
          </a:xfrm>
          <a:prstGeom prst="roundRect">
            <a:avLst>
              <a:gd name="adj" fmla="val 4186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0480" y="1993392"/>
            <a:ext cx="365760" cy="3657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048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975104"/>
            <a:ext cx="429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Maturité DQ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17056" y="2514600"/>
            <a:ext cx="471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sur 6, règles réutilisables sur tout dataset, seuils de tolérance paramétrables.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00320" cy="1965960"/>
          </a:xfrm>
          <a:prstGeom prst="roundRect">
            <a:avLst>
              <a:gd name="adj" fmla="val 4186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5112"/>
            <a:ext cx="365760" cy="3657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306824"/>
            <a:ext cx="429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&amp; auditabilité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" y="4846320"/>
            <a:ext cx="471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Pack, registre chaîné par hash, vérification indépendante, sign-off, journaux de changements.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4448" y="4069080"/>
            <a:ext cx="5300320" cy="1965960"/>
          </a:xfrm>
          <a:prstGeom prst="roundRect">
            <a:avLst>
              <a:gd name="adj" fmla="val 4186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0480" y="4325112"/>
            <a:ext cx="365760" cy="3657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04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55968" y="4306824"/>
            <a:ext cx="429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 métier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17056" y="4846320"/>
            <a:ext cx="471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du risque, incidents actionnables avec remédiation, déploiement « 2 fichiers », exports Power BI.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PERSPECTIVES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Passer à l'échelle — sans rien réécrire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00320" cy="4023360"/>
          </a:xfrm>
          <a:prstGeom prst="roundRect">
            <a:avLst>
              <a:gd name="adj" fmla="val 2045"/>
            </a:avLst>
          </a:prstGeom>
          <a:solidFill>
            <a:srgbClr val="26262C"/>
          </a:solidFill>
          <a:ln w="9525">
            <a:solidFill>
              <a:srgbClr val="3A3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2011680"/>
            <a:ext cx="466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l'horizontale — plus d'EUC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606040"/>
            <a:ext cx="4660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nouvel EUC = 2 fichiers de config + 1 appel. Zéro code.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catalogue central versionné, tiré par chaque EUC.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 s'insère dans n'importe quel pipeline ou CI (contrôle bloquant).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00320" cy="4023360"/>
          </a:xfrm>
          <a:prstGeom prst="roundRect">
            <a:avLst>
              <a:gd name="adj" fmla="val 2045"/>
            </a:avLst>
          </a:prstGeom>
          <a:solidFill>
            <a:srgbClr val="26262C"/>
          </a:solidFill>
          <a:ln w="9525">
            <a:solidFill>
              <a:srgbClr val="3A3A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4488" y="2011680"/>
            <a:ext cx="466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la verticale — plus de volume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606040"/>
            <a:ext cx="4660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fonctions ont un contrat fixe.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remplace pandas par DuckDB ou Spark SQL sans toucher au catalogue, à la preuve, ni à l'appli.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parallèle des règles, runs incrémentaux par partition.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PERSPECTIVES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MVP honnête — et une suite à faible risque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00320" cy="2743200"/>
          </a:xfrm>
          <a:prstGeom prst="roundRect">
            <a:avLst>
              <a:gd name="adj" fmla="val 3000"/>
            </a:avLst>
          </a:prstGeom>
          <a:solidFill>
            <a:srgbClr val="26262C"/>
          </a:solidFill>
          <a:ln w="9525">
            <a:solidFill>
              <a:srgbClr val="3A3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920240"/>
            <a:ext cx="466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423160"/>
            <a:ext cx="466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&amp; Excel opérationnels (3 connecteurs à finir)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en mémoire — échelle EUC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en fichiers locaux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mono-utilisateur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24448" y="1737360"/>
            <a:ext cx="5300320" cy="2743200"/>
          </a:xfrm>
          <a:prstGeom prst="roundRect">
            <a:avLst>
              <a:gd name="adj" fmla="val 3000"/>
            </a:avLst>
          </a:prstGeom>
          <a:solidFill>
            <a:srgbClr val="26262C"/>
          </a:solidFill>
          <a:ln w="9525">
            <a:solidFill>
              <a:srgbClr val="3A3A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4488" y="1920240"/>
            <a:ext cx="466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suivante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423160"/>
            <a:ext cx="466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JSON / SQL / SharePoint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SQL push-down (DuckDB / Spark)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WORM pour la preuve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et rôles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9E1B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" y="4709160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gouvernance est complet et prouvé. Le durcissement production est la phase suivante — les interfaces sont déjà définies.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692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D'un EUC que personne ne peut auditer, à une couche de contrôle qu'un régulateur peut lire. »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—  Groupe 1  ·  Datathon MBA-ESG × SG GSC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DQ Compass</dc:title>
  <dc:subject>PptxGenJS Presentation</dc:subject>
  <dc:creator>Groupe 1</dc:creator>
  <cp:lastModifiedBy>Groupe 1</cp:lastModifiedBy>
  <cp:revision>1</cp:revision>
  <dcterms:created xsi:type="dcterms:W3CDTF">2026-09-08T13:17:46Z</dcterms:created>
  <dcterms:modified xsi:type="dcterms:W3CDTF">2026-09-08T13:17:46Z</dcterms:modified>
</cp:coreProperties>
</file>